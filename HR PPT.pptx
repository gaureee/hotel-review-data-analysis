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Lst>
  <p:notesMasterIdLst>
    <p:notesMasterId r:id="rId24"/>
  </p:notesMasterIdLst>
  <p:sldIdLst>
    <p:sldId id="256" r:id="rId2"/>
    <p:sldId id="276" r:id="rId3"/>
    <p:sldId id="257" r:id="rId4"/>
    <p:sldId id="274" r:id="rId5"/>
    <p:sldId id="275" r:id="rId6"/>
    <p:sldId id="259" r:id="rId7"/>
    <p:sldId id="277" r:id="rId8"/>
    <p:sldId id="260" r:id="rId9"/>
    <p:sldId id="261" r:id="rId10"/>
    <p:sldId id="262" r:id="rId11"/>
    <p:sldId id="263" r:id="rId12"/>
    <p:sldId id="264" r:id="rId13"/>
    <p:sldId id="272" r:id="rId14"/>
    <p:sldId id="265" r:id="rId15"/>
    <p:sldId id="267" r:id="rId16"/>
    <p:sldId id="266" r:id="rId17"/>
    <p:sldId id="269" r:id="rId18"/>
    <p:sldId id="271" r:id="rId19"/>
    <p:sldId id="278" r:id="rId20"/>
    <p:sldId id="268" r:id="rId21"/>
    <p:sldId id="280" r:id="rId22"/>
    <p:sldId id="27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5404A4-DFCD-4E27-ACD7-D386077D64F8}" type="datetimeFigureOut">
              <a:rPr lang="en-IN" smtClean="0"/>
              <a:t>20-08-2024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56639-7374-490D-A8D9-BCFA574CD4C6}" type="slidenum">
              <a:rPr lang="en-IN" smtClean="0"/>
              <a:t>‹#›</a:t>
            </a:fld>
            <a:endParaRPr lang="en-IN"/>
          </a:p>
        </p:txBody>
      </p:sp>
    </p:spTree>
    <p:extLst>
      <p:ext uri="{BB962C8B-B14F-4D97-AF65-F5344CB8AC3E}">
        <p14:creationId xmlns:p14="http://schemas.microsoft.com/office/powerpoint/2010/main" val="2962380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C16881-2067-44C9-825F-3E735E48B00D}"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1589377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C16881-2067-44C9-825F-3E735E48B00D}"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2043620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C16881-2067-44C9-825F-3E735E48B00D}"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4144753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C16881-2067-44C9-825F-3E735E48B00D}"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2999247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C16881-2067-44C9-825F-3E735E48B00D}" type="datetimeFigureOut">
              <a:rPr lang="en-IN" smtClean="0"/>
              <a:t>20-08-2024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1374697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C16881-2067-44C9-825F-3E735E48B00D}" type="datetimeFigureOut">
              <a:rPr lang="en-IN" smtClean="0"/>
              <a:t>20-08-2024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2848750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C16881-2067-44C9-825F-3E735E48B00D}" type="datetimeFigureOut">
              <a:rPr lang="en-IN" smtClean="0"/>
              <a:t>20-08-2024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1697065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C16881-2067-44C9-825F-3E735E48B00D}"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1645283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C16881-2067-44C9-825F-3E735E48B00D}"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3524328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C16881-2067-44C9-825F-3E735E48B00D}"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246694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C16881-2067-44C9-825F-3E735E48B00D}"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4AF648-A457-42A6-892D-A0C9806409FD}"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58179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C16881-2067-44C9-825F-3E735E48B00D}"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1460666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C16881-2067-44C9-825F-3E735E48B00D}"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4AF648-A457-42A6-892D-A0C9806409FD}"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24649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C16881-2067-44C9-825F-3E735E48B00D}"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22010951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C16881-2067-44C9-825F-3E735E48B00D}"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17275831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C16881-2067-44C9-825F-3E735E48B00D}"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4AF648-A457-42A6-892D-A0C9806409FD}" type="slidenum">
              <a:rPr lang="en-IN" smtClean="0"/>
              <a:t>‹#›</a:t>
            </a:fld>
            <a:endParaRPr lang="en-IN"/>
          </a:p>
        </p:txBody>
      </p:sp>
    </p:spTree>
    <p:extLst>
      <p:ext uri="{BB962C8B-B14F-4D97-AF65-F5344CB8AC3E}">
        <p14:creationId xmlns:p14="http://schemas.microsoft.com/office/powerpoint/2010/main" val="1129640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4C16881-2067-44C9-825F-3E735E48B00D}" type="datetimeFigureOut">
              <a:rPr lang="en-IN" smtClean="0"/>
              <a:t>20-08-2024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94AF648-A457-42A6-892D-A0C9806409FD}" type="slidenum">
              <a:rPr lang="en-IN" smtClean="0"/>
              <a:t>‹#›</a:t>
            </a:fld>
            <a:endParaRPr lang="en-IN"/>
          </a:p>
        </p:txBody>
      </p:sp>
    </p:spTree>
    <p:extLst>
      <p:ext uri="{BB962C8B-B14F-4D97-AF65-F5344CB8AC3E}">
        <p14:creationId xmlns:p14="http://schemas.microsoft.com/office/powerpoint/2010/main" val="1559742184"/>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pickpik.com/search?q=solution"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pic>
        <p:nvPicPr>
          <p:cNvPr id="1026" name="Picture 2" descr="https://i.pinimg.com/736x/fe/e5/68/fee568bb1be72abb2be8467a05e3b6a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756" y="1653988"/>
            <a:ext cx="5397871" cy="467815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54406" y="292198"/>
            <a:ext cx="9876295" cy="1023357"/>
          </a:xfrm>
          <a:prstGeom prst="rect">
            <a:avLst/>
          </a:prstGeom>
          <a:noFill/>
        </p:spPr>
        <p:txBody>
          <a:bodyPr wrap="square" rtlCol="0">
            <a:spAutoFit/>
          </a:bodyPr>
          <a:lstStyle/>
          <a:p>
            <a:pPr algn="ctr">
              <a:lnSpc>
                <a:spcPct val="150000"/>
              </a:lnSpc>
            </a:pPr>
            <a:r>
              <a:rPr lang="en-IN" sz="4400" b="1" dirty="0">
                <a:latin typeface="Dubai Medium" panose="020B0603030403030204" pitchFamily="34" charset="-78"/>
                <a:ea typeface="Bookman Old Style"/>
                <a:cs typeface="Dubai Medium" panose="020B0603030403030204" pitchFamily="34" charset="-78"/>
                <a:sym typeface="Bookman Old Style"/>
              </a:rPr>
              <a:t>HOTEL REVIEW DATA ANALYSIS</a:t>
            </a:r>
            <a:endParaRPr lang="en-IN" sz="4400" b="1" dirty="0">
              <a:latin typeface="Dubai Medium" panose="020B0603030403030204" pitchFamily="34" charset="-78"/>
              <a:cs typeface="Dubai Medium" panose="020B0603030403030204" pitchFamily="34" charset="-78"/>
            </a:endParaRPr>
          </a:p>
        </p:txBody>
      </p:sp>
      <p:sp>
        <p:nvSpPr>
          <p:cNvPr id="10" name="Google Shape;66;p1"/>
          <p:cNvSpPr txBox="1"/>
          <p:nvPr/>
        </p:nvSpPr>
        <p:spPr>
          <a:xfrm>
            <a:off x="7084403" y="2097102"/>
            <a:ext cx="4361110" cy="341627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buClr>
                <a:schemeClr val="dk1"/>
              </a:buClr>
              <a:buSzPts val="1800"/>
            </a:pPr>
            <a:r>
              <a:rPr lang="en-IN" sz="2400" b="1" dirty="0">
                <a:solidFill>
                  <a:schemeClr val="tx1"/>
                </a:solidFill>
              </a:rPr>
              <a:t>BY GROUP</a:t>
            </a:r>
            <a:r>
              <a:rPr lang="en-IN" sz="2400" b="1">
                <a:solidFill>
                  <a:schemeClr val="tx1"/>
                </a:solidFill>
              </a:rPr>
              <a:t>: 2</a:t>
            </a:r>
            <a:endParaRPr lang="en-IN" sz="2400" b="1" dirty="0">
              <a:solidFill>
                <a:schemeClr val="tx1"/>
              </a:solidFill>
            </a:endParaRPr>
          </a:p>
          <a:p>
            <a:pPr>
              <a:lnSpc>
                <a:spcPct val="150000"/>
              </a:lnSpc>
              <a:buClr>
                <a:schemeClr val="dk1"/>
              </a:buClr>
              <a:buSzPts val="1800"/>
            </a:pPr>
            <a:endParaRPr lang="en-IN" sz="2000" b="1" dirty="0">
              <a:solidFill>
                <a:schemeClr val="tx1"/>
              </a:solidFill>
            </a:endParaRPr>
          </a:p>
          <a:p>
            <a:pPr marL="285750" lvl="0" indent="-285750">
              <a:lnSpc>
                <a:spcPct val="150000"/>
              </a:lnSpc>
              <a:buClr>
                <a:schemeClr val="dk1"/>
              </a:buClr>
              <a:buSzPts val="1800"/>
              <a:buFont typeface="Arial"/>
              <a:buChar char="•"/>
            </a:pPr>
            <a:r>
              <a:rPr lang="en-IN" sz="2000" b="1" dirty="0">
                <a:solidFill>
                  <a:schemeClr val="tx1"/>
                </a:solidFill>
              </a:rPr>
              <a:t>JESHMA MARIA VEIGAS</a:t>
            </a:r>
          </a:p>
          <a:p>
            <a:pPr marL="285750" lvl="0" indent="-285750">
              <a:lnSpc>
                <a:spcPct val="150000"/>
              </a:lnSpc>
              <a:buClr>
                <a:schemeClr val="dk1"/>
              </a:buClr>
              <a:buSzPts val="1800"/>
              <a:buFont typeface="Arial"/>
              <a:buChar char="•"/>
            </a:pPr>
            <a:r>
              <a:rPr lang="en-IN" sz="2000" b="1" dirty="0">
                <a:solidFill>
                  <a:schemeClr val="tx1"/>
                </a:solidFill>
              </a:rPr>
              <a:t>GAURI PRAVIN DEGAONKAR</a:t>
            </a:r>
          </a:p>
          <a:p>
            <a:pPr marL="285750" lvl="0" indent="-285750">
              <a:lnSpc>
                <a:spcPct val="150000"/>
              </a:lnSpc>
              <a:buClr>
                <a:schemeClr val="dk1"/>
              </a:buClr>
              <a:buSzPts val="1800"/>
              <a:buFont typeface="Arial"/>
              <a:buChar char="•"/>
            </a:pPr>
            <a:r>
              <a:rPr lang="en-IN" sz="2000" b="1" dirty="0">
                <a:solidFill>
                  <a:schemeClr val="tx1"/>
                </a:solidFill>
              </a:rPr>
              <a:t>RUATFELA</a:t>
            </a:r>
          </a:p>
          <a:p>
            <a:pPr marL="285750" lvl="0" indent="-285750">
              <a:lnSpc>
                <a:spcPct val="150000"/>
              </a:lnSpc>
              <a:buClr>
                <a:schemeClr val="dk1"/>
              </a:buClr>
              <a:buSzPts val="1800"/>
              <a:buFont typeface="Arial"/>
              <a:buChar char="•"/>
            </a:pPr>
            <a:r>
              <a:rPr lang="en-IN" sz="2000" b="1" dirty="0">
                <a:solidFill>
                  <a:schemeClr val="tx1"/>
                </a:solidFill>
              </a:rPr>
              <a:t>PUSHPAK UMARE</a:t>
            </a:r>
          </a:p>
          <a:p>
            <a:pPr marL="285750" lvl="0" indent="-285750">
              <a:lnSpc>
                <a:spcPct val="150000"/>
              </a:lnSpc>
              <a:buClr>
                <a:schemeClr val="dk1"/>
              </a:buClr>
              <a:buSzPts val="1800"/>
              <a:buFont typeface="Arial"/>
              <a:buChar char="•"/>
            </a:pPr>
            <a:r>
              <a:rPr lang="en-IN" sz="2000" b="1" dirty="0">
                <a:solidFill>
                  <a:schemeClr val="tx1"/>
                </a:solidFill>
              </a:rPr>
              <a:t>PIYUSH PANDEY</a:t>
            </a:r>
          </a:p>
        </p:txBody>
      </p:sp>
    </p:spTree>
    <p:extLst>
      <p:ext uri="{BB962C8B-B14F-4D97-AF65-F5344CB8AC3E}">
        <p14:creationId xmlns:p14="http://schemas.microsoft.com/office/powerpoint/2010/main" val="153355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2426FA-853A-449E-99B7-AF3314068D43}"/>
              </a:ext>
            </a:extLst>
          </p:cNvPr>
          <p:cNvSpPr/>
          <p:nvPr/>
        </p:nvSpPr>
        <p:spPr>
          <a:xfrm>
            <a:off x="2260740" y="1586770"/>
            <a:ext cx="6164444" cy="4099840"/>
          </a:xfrm>
          <a:prstGeom prst="rect">
            <a:avLst/>
          </a:prstGeom>
          <a:noFill/>
        </p:spPr>
        <p:txBody>
          <a:bodyPr wrap="none" lIns="91440" tIns="45720" rIns="91440" bIns="45720">
            <a:spAutoFit/>
          </a:bodyPr>
          <a:lstStyle/>
          <a:p>
            <a:pPr marL="742950" marR="0" lvl="1" indent="-285750" algn="just" rtl="0">
              <a:lnSpc>
                <a:spcPct val="107000"/>
              </a:lnSpc>
              <a:spcBef>
                <a:spcPts val="0"/>
              </a:spcBef>
              <a:spcAft>
                <a:spcPts val="0"/>
              </a:spcAft>
              <a:buClr>
                <a:srgbClr val="000000"/>
              </a:buClr>
              <a:buSzPts val="1800"/>
              <a:buFont typeface="Wingdings" panose="05000000000000000000" pitchFamily="2" charset="2"/>
              <a:buChar char="Ø"/>
            </a:pPr>
            <a:r>
              <a:rPr lang="en-US" sz="3200" b="0" i="0" u="none" strike="noStrike" cap="none" dirty="0">
                <a:solidFill>
                  <a:schemeClr val="tx1"/>
                </a:solidFill>
                <a:latin typeface="Arial"/>
                <a:ea typeface="Arial"/>
                <a:cs typeface="Arial"/>
                <a:sym typeface="Arial"/>
              </a:rPr>
              <a:t>Business Problem</a:t>
            </a:r>
            <a:endParaRPr lang="en-US" sz="2400" dirty="0">
              <a:solidFill>
                <a:schemeClr val="tx1"/>
              </a:solidFill>
            </a:endParaRPr>
          </a:p>
          <a:p>
            <a:pPr marL="742950" marR="0" lvl="1" indent="-285750" algn="just" rtl="0">
              <a:lnSpc>
                <a:spcPct val="107000"/>
              </a:lnSpc>
              <a:spcBef>
                <a:spcPts val="250"/>
              </a:spcBef>
              <a:spcAft>
                <a:spcPts val="0"/>
              </a:spcAft>
              <a:buClr>
                <a:srgbClr val="000000"/>
              </a:buClr>
              <a:buSzPts val="1800"/>
              <a:buFont typeface="Wingdings" panose="05000000000000000000" pitchFamily="2" charset="2"/>
              <a:buChar char="Ø"/>
            </a:pPr>
            <a:r>
              <a:rPr lang="en-US" sz="3200" b="0" i="0" u="none" strike="noStrike" cap="none" dirty="0">
                <a:solidFill>
                  <a:schemeClr val="tx1"/>
                </a:solidFill>
                <a:latin typeface="Arial"/>
                <a:ea typeface="Arial"/>
                <a:cs typeface="Arial"/>
                <a:sym typeface="Arial"/>
              </a:rPr>
              <a:t>Project Flow</a:t>
            </a:r>
          </a:p>
          <a:p>
            <a:pPr marL="742950" marR="0" lvl="1" indent="-285750" algn="just" rtl="0">
              <a:lnSpc>
                <a:spcPct val="107000"/>
              </a:lnSpc>
              <a:spcBef>
                <a:spcPts val="250"/>
              </a:spcBef>
              <a:spcAft>
                <a:spcPts val="0"/>
              </a:spcAft>
              <a:buClr>
                <a:srgbClr val="000000"/>
              </a:buClr>
              <a:buSzPts val="1800"/>
              <a:buFont typeface="Wingdings" panose="05000000000000000000" pitchFamily="2" charset="2"/>
              <a:buChar char="Ø"/>
            </a:pPr>
            <a:r>
              <a:rPr lang="en-US" sz="3200" b="0" i="0" u="none" strike="noStrike" cap="none" dirty="0">
                <a:solidFill>
                  <a:schemeClr val="tx1"/>
                </a:solidFill>
                <a:latin typeface="Arial"/>
                <a:ea typeface="Arial"/>
                <a:cs typeface="Arial"/>
                <a:sym typeface="Arial"/>
              </a:rPr>
              <a:t>Data Summary</a:t>
            </a:r>
            <a:endParaRPr lang="en-US" sz="2400" dirty="0">
              <a:solidFill>
                <a:schemeClr val="tx1"/>
              </a:solidFill>
            </a:endParaRPr>
          </a:p>
          <a:p>
            <a:pPr marL="742950" marR="0" lvl="1" indent="-285750" algn="just" rtl="0">
              <a:lnSpc>
                <a:spcPct val="107000"/>
              </a:lnSpc>
              <a:spcBef>
                <a:spcPts val="250"/>
              </a:spcBef>
              <a:spcAft>
                <a:spcPts val="0"/>
              </a:spcAft>
              <a:buClr>
                <a:srgbClr val="000000"/>
              </a:buClr>
              <a:buSzPts val="1800"/>
              <a:buFont typeface="Wingdings" panose="05000000000000000000" pitchFamily="2" charset="2"/>
              <a:buChar char="Ø"/>
            </a:pPr>
            <a:r>
              <a:rPr lang="en-US" sz="3200" b="0" i="0" u="none" strike="noStrike" cap="none" dirty="0">
                <a:solidFill>
                  <a:schemeClr val="tx1"/>
                </a:solidFill>
                <a:latin typeface="Arial"/>
                <a:ea typeface="Arial"/>
                <a:cs typeface="Arial"/>
                <a:sym typeface="Arial"/>
              </a:rPr>
              <a:t>Data Pre-processing</a:t>
            </a:r>
            <a:endParaRPr lang="en-US" sz="2400" dirty="0">
              <a:solidFill>
                <a:schemeClr val="tx1"/>
              </a:solidFill>
            </a:endParaRPr>
          </a:p>
          <a:p>
            <a:pPr marL="742950" marR="0" lvl="1" indent="-285750" algn="just" rtl="0">
              <a:lnSpc>
                <a:spcPct val="107000"/>
              </a:lnSpc>
              <a:spcBef>
                <a:spcPts val="250"/>
              </a:spcBef>
              <a:spcAft>
                <a:spcPts val="0"/>
              </a:spcAft>
              <a:buClr>
                <a:srgbClr val="000000"/>
              </a:buClr>
              <a:buSzPts val="1800"/>
              <a:buFont typeface="Wingdings" panose="05000000000000000000" pitchFamily="2" charset="2"/>
              <a:buChar char="Ø"/>
            </a:pPr>
            <a:r>
              <a:rPr lang="en-US" sz="3200" b="0" i="0" u="none" strike="noStrike" cap="none" dirty="0">
                <a:solidFill>
                  <a:schemeClr val="tx1"/>
                </a:solidFill>
                <a:latin typeface="Arial"/>
                <a:ea typeface="Arial"/>
                <a:cs typeface="Arial"/>
                <a:sym typeface="Arial"/>
              </a:rPr>
              <a:t>Different Model Performance</a:t>
            </a:r>
            <a:endParaRPr lang="en-US" sz="2400" dirty="0">
              <a:solidFill>
                <a:schemeClr val="tx1"/>
              </a:solidFill>
            </a:endParaRPr>
          </a:p>
          <a:p>
            <a:pPr marL="742950" marR="0" lvl="1" indent="-285750" algn="just" rtl="0">
              <a:lnSpc>
                <a:spcPct val="107000"/>
              </a:lnSpc>
              <a:spcBef>
                <a:spcPts val="250"/>
              </a:spcBef>
              <a:spcAft>
                <a:spcPts val="0"/>
              </a:spcAft>
              <a:buClr>
                <a:srgbClr val="000000"/>
              </a:buClr>
              <a:buSzPts val="1800"/>
              <a:buFont typeface="Wingdings" panose="05000000000000000000" pitchFamily="2" charset="2"/>
              <a:buChar char="Ø"/>
            </a:pPr>
            <a:r>
              <a:rPr lang="en-US" sz="3200" b="0" i="0" u="none" strike="noStrike" cap="none" dirty="0">
                <a:solidFill>
                  <a:schemeClr val="tx1"/>
                </a:solidFill>
                <a:latin typeface="Arial"/>
                <a:ea typeface="Arial"/>
                <a:cs typeface="Arial"/>
                <a:sym typeface="Arial"/>
              </a:rPr>
              <a:t>Deployment</a:t>
            </a:r>
            <a:endParaRPr lang="en-US" sz="2400" dirty="0">
              <a:solidFill>
                <a:schemeClr val="tx1"/>
              </a:solidFill>
            </a:endParaRPr>
          </a:p>
          <a:p>
            <a:pPr marL="742950" marR="0" lvl="1" indent="-285750" algn="just" rtl="0">
              <a:lnSpc>
                <a:spcPct val="107000"/>
              </a:lnSpc>
              <a:spcBef>
                <a:spcPts val="250"/>
              </a:spcBef>
              <a:spcAft>
                <a:spcPts val="0"/>
              </a:spcAft>
              <a:buClr>
                <a:srgbClr val="000000"/>
              </a:buClr>
              <a:buSzPts val="1800"/>
              <a:buFont typeface="Wingdings" panose="05000000000000000000" pitchFamily="2" charset="2"/>
              <a:buChar char="Ø"/>
            </a:pPr>
            <a:r>
              <a:rPr lang="en-US" sz="3200" b="0" i="0" u="none" strike="noStrike" cap="none" dirty="0">
                <a:solidFill>
                  <a:schemeClr val="tx1"/>
                </a:solidFill>
                <a:latin typeface="Arial"/>
                <a:ea typeface="Arial"/>
                <a:cs typeface="Arial"/>
                <a:sym typeface="Arial"/>
              </a:rPr>
              <a:t>Conclusion</a:t>
            </a:r>
            <a:endParaRPr lang="en-US" sz="2400" dirty="0">
              <a:solidFill>
                <a:schemeClr val="tx1"/>
              </a:solidFill>
            </a:endParaRPr>
          </a:p>
        </p:txBody>
      </p:sp>
      <p:sp>
        <p:nvSpPr>
          <p:cNvPr id="3" name="Rectangle 2">
            <a:extLst>
              <a:ext uri="{FF2B5EF4-FFF2-40B4-BE49-F238E27FC236}">
                <a16:creationId xmlns:a16="http://schemas.microsoft.com/office/drawing/2014/main" id="{F2F42997-3CCC-4B88-A579-AC291FBE8860}"/>
              </a:ext>
            </a:extLst>
          </p:cNvPr>
          <p:cNvSpPr/>
          <p:nvPr/>
        </p:nvSpPr>
        <p:spPr>
          <a:xfrm>
            <a:off x="1735541" y="439288"/>
            <a:ext cx="2983509" cy="923330"/>
          </a:xfrm>
          <a:prstGeom prst="rect">
            <a:avLst/>
          </a:prstGeom>
          <a:noFill/>
        </p:spPr>
        <p:txBody>
          <a:bodyPr wrap="none" lIns="91440" tIns="45720" rIns="91440" bIns="45720">
            <a:spAutoFit/>
          </a:bodyPr>
          <a:lstStyle/>
          <a:p>
            <a:pPr algn="ctr"/>
            <a:r>
              <a:rPr lang="en-US" sz="5400" b="1" cap="none" spc="0" dirty="0">
                <a:ln w="0"/>
                <a:solidFill>
                  <a:schemeClr val="accent1"/>
                </a:solidFill>
                <a:effectLst>
                  <a:outerShdw blurRad="38100" dist="25400" dir="5400000" algn="ctr" rotWithShape="0">
                    <a:srgbClr val="6E747A">
                      <a:alpha val="43000"/>
                    </a:srgbClr>
                  </a:outerShdw>
                </a:effectLst>
              </a:rPr>
              <a:t>Agenda</a:t>
            </a:r>
          </a:p>
        </p:txBody>
      </p:sp>
    </p:spTree>
    <p:extLst>
      <p:ext uri="{BB962C8B-B14F-4D97-AF65-F5344CB8AC3E}">
        <p14:creationId xmlns:p14="http://schemas.microsoft.com/office/powerpoint/2010/main" val="161467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65FBC2-E8C6-49D4-9EF1-BAF233B08131}"/>
              </a:ext>
            </a:extLst>
          </p:cNvPr>
          <p:cNvSpPr txBox="1"/>
          <p:nvPr/>
        </p:nvSpPr>
        <p:spPr>
          <a:xfrm>
            <a:off x="838198" y="1499448"/>
            <a:ext cx="10933394" cy="255454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000" b="0" i="0" dirty="0">
                <a:solidFill>
                  <a:srgbClr val="000000"/>
                </a:solidFill>
                <a:effectLst/>
                <a:latin typeface="Dubai Medium" panose="020B0603030403030204" pitchFamily="34" charset="-78"/>
                <a:cs typeface="Dubai Medium" panose="020B0603030403030204" pitchFamily="34" charset="-78"/>
              </a:rPr>
              <a:t>Customer reviews on hotels are very important part of travel plan for people now a days. People prefer to book such hotels which have high number of positive reviews. There are diﬀerent sources to ﬁnd the reviews to get a better insight about the hotel’s reputation. Thus it can be said that customer reviews plays an important part for business owners in order to improve their services.</a:t>
            </a:r>
          </a:p>
          <a:p>
            <a:pPr algn="just"/>
            <a:r>
              <a:rPr lang="en-US" sz="2000" b="0" i="0" dirty="0">
                <a:solidFill>
                  <a:srgbClr val="000000"/>
                </a:solidFill>
                <a:effectLst/>
                <a:latin typeface="Dubai Medium" panose="020B0603030403030204" pitchFamily="34" charset="-78"/>
                <a:cs typeface="Dubai Medium" panose="020B0603030403030204" pitchFamily="34" charset="-78"/>
              </a:rPr>
              <a:t>In this project, sentiment analysis is performed on the basis of user reviews using three diﬀerent classiﬁers. The classiﬁers used in this project are “Naive Bayes", "Random Forest” and “Support Vector Machine”. The performance of these algorithms are assessed on two diﬀerent parameter settings. The reviews are classiﬁed as “Positive", “Negative”  labels.</a:t>
            </a:r>
          </a:p>
        </p:txBody>
      </p:sp>
      <p:pic>
        <p:nvPicPr>
          <p:cNvPr id="12" name="Picture 11">
            <a:extLst>
              <a:ext uri="{FF2B5EF4-FFF2-40B4-BE49-F238E27FC236}">
                <a16:creationId xmlns:a16="http://schemas.microsoft.com/office/drawing/2014/main" id="{7A6C0261-18D8-4C78-97FA-A7031C541A6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380845" y="4000500"/>
            <a:ext cx="5438775" cy="2857500"/>
          </a:xfrm>
          <a:prstGeom prst="rect">
            <a:avLst/>
          </a:prstGeom>
          <a:effectLst>
            <a:softEdge rad="635000"/>
          </a:effectLst>
        </p:spPr>
      </p:pic>
      <p:sp>
        <p:nvSpPr>
          <p:cNvPr id="13" name="Rectangle 12">
            <a:extLst>
              <a:ext uri="{FF2B5EF4-FFF2-40B4-BE49-F238E27FC236}">
                <a16:creationId xmlns:a16="http://schemas.microsoft.com/office/drawing/2014/main" id="{7479FFEB-7E25-44ED-8E93-3A67421FA4EF}"/>
              </a:ext>
            </a:extLst>
          </p:cNvPr>
          <p:cNvSpPr/>
          <p:nvPr/>
        </p:nvSpPr>
        <p:spPr>
          <a:xfrm>
            <a:off x="3715531" y="398596"/>
            <a:ext cx="4894290" cy="707886"/>
          </a:xfrm>
          <a:prstGeom prst="rect">
            <a:avLst/>
          </a:prstGeom>
          <a:noFill/>
        </p:spPr>
        <p:txBody>
          <a:bodyPr wrap="none" lIns="91440" tIns="45720" rIns="91440" bIns="45720">
            <a:spAutoFit/>
          </a:bodyPr>
          <a:lstStyle/>
          <a:p>
            <a:pPr algn="ctr"/>
            <a:r>
              <a:rPr lang="en-US" sz="4000" b="1" dirty="0">
                <a:ln w="0"/>
                <a:solidFill>
                  <a:schemeClr val="accent1"/>
                </a:solidFill>
                <a:effectLst>
                  <a:outerShdw blurRad="38100" dist="25400" dir="5400000" algn="ctr" rotWithShape="0">
                    <a:srgbClr val="6E747A">
                      <a:alpha val="43000"/>
                    </a:srgbClr>
                  </a:outerShdw>
                </a:effectLst>
              </a:rPr>
              <a:t>Problem Statement</a:t>
            </a:r>
            <a:endParaRPr lang="en-US" sz="4000" b="1"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838030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0" name="Google Shape;80;p3"/>
          <p:cNvSpPr txBox="1"/>
          <p:nvPr/>
        </p:nvSpPr>
        <p:spPr>
          <a:xfrm>
            <a:off x="1539688" y="3429000"/>
            <a:ext cx="9950823" cy="2308284"/>
          </a:xfrm>
          <a:prstGeom prst="rect">
            <a:avLst/>
          </a:prstGeom>
          <a:noFill/>
          <a:ln>
            <a:noFill/>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t" anchorCtr="0">
            <a:spAutoFit/>
          </a:bodyPr>
          <a:lstStyle/>
          <a:p>
            <a:pPr marL="0" marR="0" lvl="0" indent="0" algn="ctr" rtl="0">
              <a:spcBef>
                <a:spcPts val="0"/>
              </a:spcBef>
              <a:spcAft>
                <a:spcPts val="0"/>
              </a:spcAft>
              <a:buNone/>
            </a:pPr>
            <a:r>
              <a:rPr lang="en-IN" sz="4400" b="1" strike="noStrike" dirty="0">
                <a:ln w="0"/>
                <a:solidFill>
                  <a:schemeClr val="accent1"/>
                </a:solidFill>
                <a:latin typeface="Dubai Medium" panose="020B0603030403030204" pitchFamily="34" charset="-78"/>
                <a:ea typeface="Arial"/>
                <a:cs typeface="Dubai Medium" panose="020B0603030403030204" pitchFamily="34" charset="-78"/>
                <a:sym typeface="Arial"/>
              </a:rPr>
              <a:t>Objective</a:t>
            </a:r>
            <a:r>
              <a:rPr lang="en-IN" sz="4400" i="0" strike="noStrike"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ea typeface="Arial"/>
                <a:cs typeface="Dubai Medium" panose="020B0603030403030204" pitchFamily="34" charset="-78"/>
                <a:sym typeface="Arial"/>
              </a:rPr>
              <a:t>:</a:t>
            </a:r>
            <a:endParaRPr sz="4400"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ea typeface="Arial"/>
              <a:cs typeface="Dubai Medium" panose="020B0603030403030204" pitchFamily="34" charset="-78"/>
              <a:sym typeface="Arial"/>
            </a:endParaRPr>
          </a:p>
          <a:p>
            <a:pPr marL="0" marR="0" lvl="0" indent="0" algn="l" rtl="0">
              <a:spcBef>
                <a:spcPts val="0"/>
              </a:spcBef>
              <a:spcAft>
                <a:spcPts val="0"/>
              </a:spcAft>
              <a:buNone/>
            </a:pPr>
            <a:r>
              <a:rPr lang="en-IN" sz="2000" b="0" i="0" u="none" strike="noStrike" cap="none" dirty="0">
                <a:solidFill>
                  <a:schemeClr val="dk1"/>
                </a:solidFill>
                <a:latin typeface="Dubai Medium" panose="020B0603030403030204" pitchFamily="34" charset="-78"/>
                <a:ea typeface="Arial"/>
                <a:cs typeface="Dubai Medium" panose="020B0603030403030204" pitchFamily="34" charset="-78"/>
                <a:sym typeface="Arial"/>
              </a:rPr>
              <a:t>Our goal is to examine how travellers are communicating their positive and negative experiences in online platforms for staying in a specific hotel and major objective is what are the attributes that travellers are considering while selecting a hotel. With this manager can understand which elements of their hotel influence more in forming a positive review or improves hotel brand image.</a:t>
            </a:r>
            <a:endParaRPr sz="1600" dirty="0">
              <a:latin typeface="Dubai Medium" panose="020B0603030403030204" pitchFamily="34" charset="-78"/>
              <a:cs typeface="Dubai Medium" panose="020B0603030403030204" pitchFamily="34" charset="-78"/>
            </a:endParaRPr>
          </a:p>
        </p:txBody>
      </p:sp>
      <p:pic>
        <p:nvPicPr>
          <p:cNvPr id="81" name="Google Shape;81;p3"/>
          <p:cNvPicPr preferRelativeResize="0"/>
          <p:nvPr/>
        </p:nvPicPr>
        <p:blipFill rotWithShape="1">
          <a:blip r:embed="rId3">
            <a:alphaModFix/>
          </a:blip>
          <a:srcRect/>
          <a:stretch/>
        </p:blipFill>
        <p:spPr>
          <a:xfrm>
            <a:off x="2273566" y="414358"/>
            <a:ext cx="7644866" cy="2881292"/>
          </a:xfrm>
          <a:prstGeom prst="rect">
            <a:avLst/>
          </a:prstGeom>
          <a:noFill/>
          <a:ln>
            <a:noFill/>
          </a:ln>
          <a:effectLst>
            <a:softEdge rad="63500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p:nvPr/>
        </p:nvSpPr>
        <p:spPr>
          <a:xfrm>
            <a:off x="7481440" y="1030347"/>
            <a:ext cx="1436476" cy="342470"/>
          </a:xfrm>
          <a:prstGeom prst="roundRect">
            <a:avLst>
              <a:gd name="adj" fmla="val 16667"/>
            </a:avLst>
          </a:prstGeom>
          <a:gradFill>
            <a:gsLst>
              <a:gs pos="0">
                <a:srgbClr val="989898"/>
              </a:gs>
              <a:gs pos="45000">
                <a:srgbClr val="A7A7A7"/>
              </a:gs>
              <a:gs pos="100000">
                <a:srgbClr val="B1B1B1"/>
              </a:gs>
            </a:gsLst>
            <a:path path="circle">
              <a:fillToRect l="50000" t="50000" r="50000" b="50000"/>
            </a:path>
            <a:tileRect/>
          </a:gra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Libre Franklin"/>
              <a:buNone/>
            </a:pPr>
            <a:r>
              <a:rPr lang="en-IN" sz="1600" dirty="0">
                <a:solidFill>
                  <a:schemeClr val="dk1"/>
                </a:solidFill>
                <a:latin typeface="Libre Franklin"/>
                <a:ea typeface="Libre Franklin"/>
                <a:cs typeface="Libre Franklin"/>
                <a:sym typeface="Libre Franklin"/>
              </a:rPr>
              <a:t>Data Input</a:t>
            </a:r>
            <a:endParaRPr sz="1800" dirty="0">
              <a:solidFill>
                <a:schemeClr val="dk1"/>
              </a:solidFill>
              <a:latin typeface="Arial"/>
              <a:ea typeface="Arial"/>
              <a:cs typeface="Arial"/>
              <a:sym typeface="Arial"/>
            </a:endParaRPr>
          </a:p>
        </p:txBody>
      </p:sp>
      <p:sp>
        <p:nvSpPr>
          <p:cNvPr id="87" name="Google Shape;87;p4"/>
          <p:cNvSpPr/>
          <p:nvPr/>
        </p:nvSpPr>
        <p:spPr>
          <a:xfrm>
            <a:off x="7135583" y="1668000"/>
            <a:ext cx="2196675" cy="440377"/>
          </a:xfrm>
          <a:prstGeom prst="roundRect">
            <a:avLst>
              <a:gd name="adj" fmla="val 16667"/>
            </a:avLst>
          </a:prstGeom>
          <a:gradFill>
            <a:gsLst>
              <a:gs pos="0">
                <a:srgbClr val="F5A58D"/>
              </a:gs>
              <a:gs pos="45000">
                <a:srgbClr val="F9B5A0"/>
              </a:gs>
              <a:gs pos="100000">
                <a:srgbClr val="FFB9A4"/>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Libre Franklin"/>
              <a:buNone/>
            </a:pPr>
            <a:r>
              <a:rPr lang="en-IN" sz="1600" dirty="0">
                <a:solidFill>
                  <a:schemeClr val="dk1"/>
                </a:solidFill>
                <a:latin typeface="Libre Franklin"/>
                <a:ea typeface="Libre Franklin"/>
                <a:cs typeface="Libre Franklin"/>
                <a:sym typeface="Libre Franklin"/>
              </a:rPr>
              <a:t>Data Pre-processing</a:t>
            </a:r>
            <a:endParaRPr sz="1800" dirty="0">
              <a:solidFill>
                <a:schemeClr val="dk1"/>
              </a:solidFill>
              <a:latin typeface="Arial"/>
              <a:ea typeface="Arial"/>
              <a:cs typeface="Arial"/>
              <a:sym typeface="Arial"/>
            </a:endParaRPr>
          </a:p>
        </p:txBody>
      </p:sp>
      <p:sp>
        <p:nvSpPr>
          <p:cNvPr id="88" name="Google Shape;88;p4"/>
          <p:cNvSpPr/>
          <p:nvPr/>
        </p:nvSpPr>
        <p:spPr>
          <a:xfrm>
            <a:off x="6916626" y="3138219"/>
            <a:ext cx="2524836" cy="415015"/>
          </a:xfrm>
          <a:prstGeom prst="roundRect">
            <a:avLst>
              <a:gd name="adj" fmla="val 16667"/>
            </a:avLst>
          </a:prstGeom>
          <a:gradFill>
            <a:gsLst>
              <a:gs pos="0">
                <a:srgbClr val="F1958E"/>
              </a:gs>
              <a:gs pos="45000">
                <a:srgbClr val="F4A8A2"/>
              </a:gs>
              <a:gs pos="100000">
                <a:srgbClr val="FEACA6"/>
              </a:gs>
            </a:gsLst>
            <a:path path="circle">
              <a:fillToRect l="50000" t="50000" r="50000" b="50000"/>
            </a:path>
            <a:tileRect/>
          </a:grad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Libre Franklin"/>
              <a:buNone/>
            </a:pPr>
            <a:r>
              <a:rPr lang="en-IN" sz="1600" dirty="0">
                <a:solidFill>
                  <a:schemeClr val="dk1"/>
                </a:solidFill>
                <a:latin typeface="Libre Franklin"/>
                <a:ea typeface="Libre Franklin"/>
                <a:cs typeface="Libre Franklin"/>
                <a:sym typeface="Libre Franklin"/>
              </a:rPr>
              <a:t>Training Various Models</a:t>
            </a:r>
            <a:endParaRPr sz="1800" dirty="0">
              <a:solidFill>
                <a:schemeClr val="dk1"/>
              </a:solidFill>
              <a:latin typeface="Arial"/>
              <a:ea typeface="Arial"/>
              <a:cs typeface="Arial"/>
              <a:sym typeface="Arial"/>
            </a:endParaRPr>
          </a:p>
        </p:txBody>
      </p:sp>
      <p:sp>
        <p:nvSpPr>
          <p:cNvPr id="89" name="Google Shape;89;p4"/>
          <p:cNvSpPr/>
          <p:nvPr/>
        </p:nvSpPr>
        <p:spPr>
          <a:xfrm>
            <a:off x="5937319" y="3922861"/>
            <a:ext cx="4462817" cy="479849"/>
          </a:xfrm>
          <a:prstGeom prst="roundRect">
            <a:avLst>
              <a:gd name="adj" fmla="val 16667"/>
            </a:avLst>
          </a:prstGeom>
          <a:gradFill>
            <a:gsLst>
              <a:gs pos="0">
                <a:srgbClr val="FFD98A"/>
              </a:gs>
              <a:gs pos="45000">
                <a:srgbClr val="FFE19E"/>
              </a:gs>
              <a:gs pos="100000">
                <a:srgbClr val="FFE8A1"/>
              </a:gs>
            </a:gsLst>
            <a:path path="circle">
              <a:fillToRect l="50000" t="50000" r="50000" b="50000"/>
            </a:path>
            <a:tileRect/>
          </a:gradFill>
          <a:ln w="127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Libre Franklin"/>
              <a:buNone/>
            </a:pPr>
            <a:r>
              <a:rPr lang="en-IN" sz="1600" dirty="0">
                <a:solidFill>
                  <a:schemeClr val="dk1"/>
                </a:solidFill>
                <a:latin typeface="Libre Franklin"/>
                <a:ea typeface="Libre Franklin"/>
                <a:cs typeface="Libre Franklin"/>
                <a:sym typeface="Libre Franklin"/>
              </a:rPr>
              <a:t>Predicting Results and Selecting Best Model</a:t>
            </a:r>
            <a:endParaRPr sz="1800" dirty="0">
              <a:solidFill>
                <a:schemeClr val="dk1"/>
              </a:solidFill>
              <a:latin typeface="Arial"/>
              <a:ea typeface="Arial"/>
              <a:cs typeface="Arial"/>
              <a:sym typeface="Arial"/>
            </a:endParaRPr>
          </a:p>
        </p:txBody>
      </p:sp>
      <p:sp>
        <p:nvSpPr>
          <p:cNvPr id="90" name="Google Shape;90;p4"/>
          <p:cNvSpPr/>
          <p:nvPr/>
        </p:nvSpPr>
        <p:spPr>
          <a:xfrm>
            <a:off x="6241841" y="2415309"/>
            <a:ext cx="3874406" cy="369555"/>
          </a:xfrm>
          <a:prstGeom prst="roundRect">
            <a:avLst>
              <a:gd name="adj" fmla="val 16667"/>
            </a:avLst>
          </a:prstGeom>
          <a:gradFill>
            <a:gsLst>
              <a:gs pos="0">
                <a:srgbClr val="E0B594"/>
              </a:gs>
              <a:gs pos="45000">
                <a:srgbClr val="E6C2A6"/>
              </a:gs>
              <a:gs pos="100000">
                <a:srgbClr val="EFC8AC"/>
              </a:gs>
            </a:gsLst>
            <a:path path="circle">
              <a:fillToRect l="50000" t="50000" r="50000" b="50000"/>
            </a:path>
            <a:tileRect/>
          </a:grad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Libre Franklin"/>
              <a:buNone/>
            </a:pPr>
            <a:r>
              <a:rPr lang="en-IN" sz="1600" dirty="0">
                <a:solidFill>
                  <a:schemeClr val="dk1"/>
                </a:solidFill>
                <a:latin typeface="Libre Franklin"/>
                <a:ea typeface="Libre Franklin"/>
                <a:cs typeface="Libre Franklin"/>
                <a:sym typeface="Libre Franklin"/>
              </a:rPr>
              <a:t>Exploratory Data Analysis</a:t>
            </a:r>
            <a:endParaRPr sz="1800" dirty="0">
              <a:solidFill>
                <a:schemeClr val="dk1"/>
              </a:solidFill>
              <a:latin typeface="Arial"/>
              <a:ea typeface="Arial"/>
              <a:cs typeface="Arial"/>
              <a:sym typeface="Arial"/>
            </a:endParaRPr>
          </a:p>
        </p:txBody>
      </p:sp>
      <p:sp>
        <p:nvSpPr>
          <p:cNvPr id="91" name="Google Shape;91;p4"/>
          <p:cNvSpPr/>
          <p:nvPr/>
        </p:nvSpPr>
        <p:spPr>
          <a:xfrm>
            <a:off x="6763007" y="4690730"/>
            <a:ext cx="2811439" cy="387250"/>
          </a:xfrm>
          <a:prstGeom prst="roundRect">
            <a:avLst>
              <a:gd name="adj" fmla="val 16667"/>
            </a:avLst>
          </a:prstGeom>
          <a:gradFill>
            <a:gsLst>
              <a:gs pos="0">
                <a:srgbClr val="C1A5A5"/>
              </a:gs>
              <a:gs pos="45000">
                <a:srgbClr val="CBB5B5"/>
              </a:gs>
              <a:gs pos="100000">
                <a:srgbClr val="D3BBBB"/>
              </a:gs>
            </a:gsLst>
            <a:path path="circle">
              <a:fillToRect l="50000" t="50000" r="50000" b="50000"/>
            </a:path>
            <a:tileRect/>
          </a:gradFill>
          <a:ln w="127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Libre Franklin"/>
              <a:buNone/>
            </a:pPr>
            <a:r>
              <a:rPr lang="en-IN" sz="1600" dirty="0">
                <a:ln w="0"/>
                <a:solidFill>
                  <a:schemeClr val="accent1"/>
                </a:solidFill>
                <a:effectLst>
                  <a:outerShdw blurRad="38100" dist="25400" dir="5400000" algn="ctr" rotWithShape="0">
                    <a:srgbClr val="6E747A">
                      <a:alpha val="43000"/>
                    </a:srgbClr>
                  </a:outerShdw>
                </a:effectLst>
                <a:latin typeface="Libre Franklin"/>
                <a:ea typeface="Libre Franklin"/>
                <a:cs typeface="Libre Franklin"/>
                <a:sym typeface="Libre Franklin"/>
              </a:rPr>
              <a:t>Analysis and Conclusion</a:t>
            </a:r>
            <a:endParaRPr sz="1800" dirty="0">
              <a:ln w="0"/>
              <a:solidFill>
                <a:schemeClr val="accent1"/>
              </a:solidFill>
              <a:effectLst>
                <a:outerShdw blurRad="38100" dist="25400" dir="5400000" algn="ctr" rotWithShape="0">
                  <a:srgbClr val="6E747A">
                    <a:alpha val="43000"/>
                  </a:srgbClr>
                </a:outerShdw>
              </a:effectLst>
              <a:latin typeface="Arial"/>
              <a:ea typeface="Arial"/>
              <a:cs typeface="Arial"/>
              <a:sym typeface="Arial"/>
            </a:endParaRPr>
          </a:p>
        </p:txBody>
      </p:sp>
      <p:sp>
        <p:nvSpPr>
          <p:cNvPr id="92" name="Google Shape;92;p4"/>
          <p:cNvSpPr/>
          <p:nvPr/>
        </p:nvSpPr>
        <p:spPr>
          <a:xfrm>
            <a:off x="7419250" y="5375526"/>
            <a:ext cx="1560855" cy="387250"/>
          </a:xfrm>
          <a:prstGeom prst="roundRect">
            <a:avLst>
              <a:gd name="adj" fmla="val 16667"/>
            </a:avLst>
          </a:prstGeom>
          <a:gradFill>
            <a:gsLst>
              <a:gs pos="0">
                <a:srgbClr val="989898"/>
              </a:gs>
              <a:gs pos="45000">
                <a:srgbClr val="A7A7A7"/>
              </a:gs>
              <a:gs pos="100000">
                <a:srgbClr val="B1B1B1"/>
              </a:gs>
            </a:gsLst>
            <a:path path="circle">
              <a:fillToRect l="50000" t="50000" r="50000" b="50000"/>
            </a:path>
            <a:tileRect/>
          </a:gra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600"/>
              <a:buFont typeface="Libre Franklin"/>
              <a:buNone/>
            </a:pPr>
            <a:r>
              <a:rPr lang="en-IN" sz="1600">
                <a:solidFill>
                  <a:schemeClr val="dk1"/>
                </a:solidFill>
                <a:latin typeface="Libre Franklin"/>
                <a:ea typeface="Libre Franklin"/>
                <a:cs typeface="Libre Franklin"/>
                <a:sym typeface="Libre Franklin"/>
              </a:rPr>
              <a:t>Deployment</a:t>
            </a:r>
            <a:endParaRPr sz="1800">
              <a:solidFill>
                <a:schemeClr val="dk1"/>
              </a:solidFill>
              <a:latin typeface="Libre Franklin"/>
              <a:ea typeface="Libre Franklin"/>
              <a:cs typeface="Libre Franklin"/>
              <a:sym typeface="Libre Franklin"/>
            </a:endParaRPr>
          </a:p>
        </p:txBody>
      </p:sp>
      <p:sp>
        <p:nvSpPr>
          <p:cNvPr id="93" name="Google Shape;93;p4"/>
          <p:cNvSpPr/>
          <p:nvPr/>
        </p:nvSpPr>
        <p:spPr>
          <a:xfrm>
            <a:off x="8070025" y="1384517"/>
            <a:ext cx="218041" cy="283483"/>
          </a:xfrm>
          <a:prstGeom prst="downArrow">
            <a:avLst>
              <a:gd name="adj1" fmla="val 50000"/>
              <a:gd name="adj2" fmla="val 50000"/>
            </a:avLst>
          </a:prstGeom>
          <a:gradFill>
            <a:gsLst>
              <a:gs pos="0">
                <a:srgbClr val="FDB58B"/>
              </a:gs>
              <a:gs pos="45000">
                <a:srgbClr val="FFC39F"/>
              </a:gs>
              <a:gs pos="100000">
                <a:srgbClr val="FFC7A3"/>
              </a:gs>
            </a:gsLst>
            <a:path path="circle">
              <a:fillToRect l="50000" t="50000" r="50000" b="50000"/>
            </a:path>
            <a:tileRect/>
          </a:gra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Libre Franklin"/>
              <a:ea typeface="Libre Franklin"/>
              <a:cs typeface="Libre Franklin"/>
              <a:sym typeface="Libre Franklin"/>
            </a:endParaRPr>
          </a:p>
        </p:txBody>
      </p:sp>
      <p:sp>
        <p:nvSpPr>
          <p:cNvPr id="94" name="Google Shape;94;p4"/>
          <p:cNvSpPr/>
          <p:nvPr/>
        </p:nvSpPr>
        <p:spPr>
          <a:xfrm>
            <a:off x="8070025" y="2108379"/>
            <a:ext cx="218041" cy="240201"/>
          </a:xfrm>
          <a:prstGeom prst="downArrow">
            <a:avLst>
              <a:gd name="adj1" fmla="val 0"/>
              <a:gd name="adj2" fmla="val 50000"/>
            </a:avLst>
          </a:prstGeom>
          <a:gradFill>
            <a:gsLst>
              <a:gs pos="0">
                <a:srgbClr val="FDB58B"/>
              </a:gs>
              <a:gs pos="45000">
                <a:srgbClr val="FFC39F"/>
              </a:gs>
              <a:gs pos="100000">
                <a:srgbClr val="FFC7A3"/>
              </a:gs>
            </a:gsLst>
            <a:path path="circle">
              <a:fillToRect l="50000" t="50000" r="50000" b="50000"/>
            </a:path>
            <a:tileRect/>
          </a:gra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Libre Franklin"/>
              <a:ea typeface="Libre Franklin"/>
              <a:cs typeface="Libre Franklin"/>
              <a:sym typeface="Libre Franklin"/>
            </a:endParaRPr>
          </a:p>
        </p:txBody>
      </p:sp>
      <p:sp>
        <p:nvSpPr>
          <p:cNvPr id="95" name="Google Shape;95;p4"/>
          <p:cNvSpPr/>
          <p:nvPr/>
        </p:nvSpPr>
        <p:spPr>
          <a:xfrm>
            <a:off x="8049391" y="2779734"/>
            <a:ext cx="259307" cy="369555"/>
          </a:xfrm>
          <a:prstGeom prst="downArrow">
            <a:avLst>
              <a:gd name="adj1" fmla="val 50000"/>
              <a:gd name="adj2" fmla="val 50000"/>
            </a:avLst>
          </a:prstGeom>
          <a:gradFill>
            <a:gsLst>
              <a:gs pos="0">
                <a:srgbClr val="FDB58B"/>
              </a:gs>
              <a:gs pos="45000">
                <a:srgbClr val="FFC39F"/>
              </a:gs>
              <a:gs pos="100000">
                <a:srgbClr val="FFC7A3"/>
              </a:gs>
            </a:gsLst>
            <a:path path="circle">
              <a:fillToRect l="50000" t="50000" r="50000" b="50000"/>
            </a:path>
            <a:tileRect/>
          </a:gra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Libre Franklin"/>
              <a:ea typeface="Libre Franklin"/>
              <a:cs typeface="Libre Franklin"/>
              <a:sym typeface="Libre Franklin"/>
            </a:endParaRPr>
          </a:p>
        </p:txBody>
      </p:sp>
      <p:sp>
        <p:nvSpPr>
          <p:cNvPr id="96" name="Google Shape;96;p4"/>
          <p:cNvSpPr/>
          <p:nvPr/>
        </p:nvSpPr>
        <p:spPr>
          <a:xfrm>
            <a:off x="8049391" y="3537034"/>
            <a:ext cx="238675" cy="327317"/>
          </a:xfrm>
          <a:prstGeom prst="downArrow">
            <a:avLst>
              <a:gd name="adj1" fmla="val 50000"/>
              <a:gd name="adj2" fmla="val 50000"/>
            </a:avLst>
          </a:prstGeom>
          <a:gradFill>
            <a:gsLst>
              <a:gs pos="0">
                <a:srgbClr val="FDB58B"/>
              </a:gs>
              <a:gs pos="45000">
                <a:srgbClr val="FFC39F"/>
              </a:gs>
              <a:gs pos="100000">
                <a:srgbClr val="FFC7A3"/>
              </a:gs>
            </a:gsLst>
            <a:path path="circle">
              <a:fillToRect l="50000" t="50000" r="50000" b="50000"/>
            </a:path>
            <a:tileRect/>
          </a:gra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Libre Franklin"/>
              <a:ea typeface="Libre Franklin"/>
              <a:cs typeface="Libre Franklin"/>
              <a:sym typeface="Libre Franklin"/>
            </a:endParaRPr>
          </a:p>
        </p:txBody>
      </p:sp>
      <p:sp>
        <p:nvSpPr>
          <p:cNvPr id="97" name="Google Shape;97;p4"/>
          <p:cNvSpPr/>
          <p:nvPr/>
        </p:nvSpPr>
        <p:spPr>
          <a:xfrm>
            <a:off x="8052001" y="5077981"/>
            <a:ext cx="236066" cy="288020"/>
          </a:xfrm>
          <a:prstGeom prst="downArrow">
            <a:avLst>
              <a:gd name="adj1" fmla="val 50000"/>
              <a:gd name="adj2" fmla="val 50000"/>
            </a:avLst>
          </a:prstGeom>
          <a:gradFill>
            <a:gsLst>
              <a:gs pos="0">
                <a:srgbClr val="FDB58B"/>
              </a:gs>
              <a:gs pos="45000">
                <a:srgbClr val="FFC39F"/>
              </a:gs>
              <a:gs pos="100000">
                <a:srgbClr val="FFC7A3"/>
              </a:gs>
            </a:gsLst>
            <a:path path="circle">
              <a:fillToRect l="50000" t="50000" r="50000" b="50000"/>
            </a:path>
            <a:tileRect/>
          </a:gra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Libre Franklin"/>
              <a:ea typeface="Libre Franklin"/>
              <a:cs typeface="Libre Franklin"/>
              <a:sym typeface="Libre Franklin"/>
            </a:endParaRPr>
          </a:p>
        </p:txBody>
      </p:sp>
      <p:sp>
        <p:nvSpPr>
          <p:cNvPr id="98" name="Google Shape;98;p4"/>
          <p:cNvSpPr/>
          <p:nvPr/>
        </p:nvSpPr>
        <p:spPr>
          <a:xfrm>
            <a:off x="8049393" y="4390169"/>
            <a:ext cx="238673" cy="301062"/>
          </a:xfrm>
          <a:prstGeom prst="downArrow">
            <a:avLst>
              <a:gd name="adj1" fmla="val 50000"/>
              <a:gd name="adj2" fmla="val 50000"/>
            </a:avLst>
          </a:prstGeom>
          <a:gradFill>
            <a:gsLst>
              <a:gs pos="0">
                <a:srgbClr val="FDB58B"/>
              </a:gs>
              <a:gs pos="45000">
                <a:srgbClr val="FFC39F"/>
              </a:gs>
              <a:gs pos="100000">
                <a:srgbClr val="FFC7A3"/>
              </a:gs>
            </a:gsLst>
            <a:path path="circle">
              <a:fillToRect l="50000" t="50000" r="50000" b="50000"/>
            </a:path>
            <a:tileRect/>
          </a:gra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Libre Franklin"/>
              <a:ea typeface="Libre Franklin"/>
              <a:cs typeface="Libre Franklin"/>
              <a:sym typeface="Libre Franklin"/>
            </a:endParaRPr>
          </a:p>
        </p:txBody>
      </p:sp>
      <p:sp>
        <p:nvSpPr>
          <p:cNvPr id="99" name="Google Shape;99;p4"/>
          <p:cNvSpPr txBox="1"/>
          <p:nvPr/>
        </p:nvSpPr>
        <p:spPr>
          <a:xfrm>
            <a:off x="7102372" y="313765"/>
            <a:ext cx="2217098" cy="461665"/>
          </a:xfrm>
          <a:prstGeom prst="rect">
            <a:avLst/>
          </a:prstGeom>
          <a:solidFill>
            <a:schemeClr val="accent2">
              <a:lumMod val="60000"/>
              <a:lumOff val="40000"/>
            </a:schemeClr>
          </a:solidFill>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t" anchorCtr="0">
            <a:spAutoFit/>
          </a:bodyPr>
          <a:lstStyle/>
          <a:p>
            <a:pPr marL="0" marR="0" lvl="0" indent="0" algn="l" rtl="0">
              <a:spcBef>
                <a:spcPts val="0"/>
              </a:spcBef>
              <a:spcAft>
                <a:spcPts val="0"/>
              </a:spcAft>
              <a:buNone/>
            </a:pPr>
            <a:r>
              <a:rPr lang="en-IN" sz="1800" dirty="0">
                <a:solidFill>
                  <a:schemeClr val="dk1"/>
                </a:solidFill>
                <a:latin typeface="+mj-lt"/>
                <a:ea typeface="Consolas"/>
                <a:cs typeface="Consolas"/>
                <a:sym typeface="Consolas"/>
              </a:rPr>
              <a:t>   </a:t>
            </a:r>
            <a:r>
              <a:rPr lang="en-IN" sz="2400" b="1" u="sng" dirty="0">
                <a:solidFill>
                  <a:schemeClr val="dk1"/>
                </a:solidFill>
                <a:latin typeface="+mj-lt"/>
                <a:ea typeface="Consolas"/>
                <a:cs typeface="Consolas"/>
                <a:sym typeface="Consolas"/>
              </a:rPr>
              <a:t>Project Flow</a:t>
            </a:r>
            <a:endParaRPr dirty="0">
              <a:latin typeface="+mj-lt"/>
            </a:endParaRPr>
          </a:p>
        </p:txBody>
      </p:sp>
      <p:sp>
        <p:nvSpPr>
          <p:cNvPr id="100" name="Google Shape;100;p4"/>
          <p:cNvSpPr/>
          <p:nvPr/>
        </p:nvSpPr>
        <p:spPr>
          <a:xfrm>
            <a:off x="8049391" y="2108377"/>
            <a:ext cx="218041" cy="249343"/>
          </a:xfrm>
          <a:prstGeom prst="downArrow">
            <a:avLst>
              <a:gd name="adj1" fmla="val 50000"/>
              <a:gd name="adj2" fmla="val 50000"/>
            </a:avLst>
          </a:prstGeom>
          <a:gradFill>
            <a:gsLst>
              <a:gs pos="0">
                <a:srgbClr val="FDB58B"/>
              </a:gs>
              <a:gs pos="45000">
                <a:srgbClr val="FFC39F"/>
              </a:gs>
              <a:gs pos="100000">
                <a:srgbClr val="FFC7A3"/>
              </a:gs>
            </a:gsLst>
            <a:path path="circle">
              <a:fillToRect l="50000" t="50000" r="50000" b="50000"/>
            </a:path>
            <a:tileRect/>
          </a:gra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Libre Franklin"/>
              <a:ea typeface="Libre Franklin"/>
              <a:cs typeface="Libre Franklin"/>
              <a:sym typeface="Libre Franklin"/>
            </a:endParaRPr>
          </a:p>
        </p:txBody>
      </p:sp>
      <p:sp>
        <p:nvSpPr>
          <p:cNvPr id="2" name="Rectangle: Rounded Corners 1">
            <a:extLst>
              <a:ext uri="{FF2B5EF4-FFF2-40B4-BE49-F238E27FC236}">
                <a16:creationId xmlns:a16="http://schemas.microsoft.com/office/drawing/2014/main" id="{46058B96-ED9D-9192-CA74-AF8F2D82FB7C}"/>
              </a:ext>
            </a:extLst>
          </p:cNvPr>
          <p:cNvSpPr/>
          <p:nvPr/>
        </p:nvSpPr>
        <p:spPr>
          <a:xfrm>
            <a:off x="7481440" y="6053579"/>
            <a:ext cx="1436476" cy="38725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b="1" dirty="0">
                <a:solidFill>
                  <a:schemeClr val="tx1"/>
                </a:solidFill>
              </a:rPr>
              <a:t>RESULT</a:t>
            </a:r>
          </a:p>
        </p:txBody>
      </p:sp>
      <p:sp>
        <p:nvSpPr>
          <p:cNvPr id="3" name="Google Shape;96;p4">
            <a:extLst>
              <a:ext uri="{FF2B5EF4-FFF2-40B4-BE49-F238E27FC236}">
                <a16:creationId xmlns:a16="http://schemas.microsoft.com/office/drawing/2014/main" id="{A9015378-FEBF-9D28-FC80-FEB394076AE3}"/>
              </a:ext>
            </a:extLst>
          </p:cNvPr>
          <p:cNvSpPr/>
          <p:nvPr/>
        </p:nvSpPr>
        <p:spPr>
          <a:xfrm>
            <a:off x="8070025" y="5726262"/>
            <a:ext cx="238673" cy="327317"/>
          </a:xfrm>
          <a:prstGeom prst="downArrow">
            <a:avLst>
              <a:gd name="adj1" fmla="val 50000"/>
              <a:gd name="adj2" fmla="val 50000"/>
            </a:avLst>
          </a:prstGeom>
          <a:gradFill>
            <a:gsLst>
              <a:gs pos="0">
                <a:srgbClr val="FDB58B"/>
              </a:gs>
              <a:gs pos="45000">
                <a:srgbClr val="FFC39F"/>
              </a:gs>
              <a:gs pos="100000">
                <a:srgbClr val="FFC7A3"/>
              </a:gs>
            </a:gsLst>
            <a:path path="circle">
              <a:fillToRect l="50000" t="50000" r="50000" b="50000"/>
            </a:path>
            <a:tileRect/>
          </a:grad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Libre Franklin"/>
              <a:ea typeface="Libre Franklin"/>
              <a:cs typeface="Libre Franklin"/>
              <a:sym typeface="Libre Franklin"/>
            </a:endParaRPr>
          </a:p>
        </p:txBody>
      </p:sp>
      <p:sp>
        <p:nvSpPr>
          <p:cNvPr id="4" name="Rectangle 3">
            <a:extLst>
              <a:ext uri="{FF2B5EF4-FFF2-40B4-BE49-F238E27FC236}">
                <a16:creationId xmlns:a16="http://schemas.microsoft.com/office/drawing/2014/main" id="{8610565B-C666-4EC6-8A30-B5F6A973DA49}"/>
              </a:ext>
            </a:extLst>
          </p:cNvPr>
          <p:cNvSpPr/>
          <p:nvPr/>
        </p:nvSpPr>
        <p:spPr>
          <a:xfrm rot="19492242">
            <a:off x="2054176" y="1321224"/>
            <a:ext cx="3785012" cy="707886"/>
          </a:xfrm>
          <a:prstGeom prst="rect">
            <a:avLst/>
          </a:prstGeom>
          <a:noFill/>
        </p:spPr>
        <p:txBody>
          <a:bodyPr wrap="none" lIns="91440" tIns="45720" rIns="91440" bIns="45720">
            <a:spAutoFit/>
          </a:bodyPr>
          <a:lstStyle/>
          <a:p>
            <a:pPr algn="ctr"/>
            <a:r>
              <a:rPr lang="en-US" sz="4000" b="1" dirty="0">
                <a:ln w="0"/>
                <a:solidFill>
                  <a:schemeClr val="accent1"/>
                </a:solidFill>
                <a:effectLst>
                  <a:outerShdw blurRad="38100" dist="25400" dir="5400000" algn="ctr" rotWithShape="0">
                    <a:srgbClr val="6E747A">
                      <a:alpha val="43000"/>
                    </a:srgbClr>
                  </a:outerShdw>
                </a:effectLst>
              </a:rPr>
              <a:t>Data workflow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44022" y="201627"/>
            <a:ext cx="3916713" cy="707886"/>
          </a:xfrm>
          <a:prstGeom prst="rect">
            <a:avLst/>
          </a:prstGeom>
          <a:noFill/>
        </p:spPr>
        <p:txBody>
          <a:bodyPr wrap="none" rtlCol="0">
            <a:spAutoFit/>
          </a:bodyPr>
          <a:lstStyle/>
          <a:p>
            <a:r>
              <a:rPr lang="en-US" sz="4000" b="1" dirty="0">
                <a:ln w="0"/>
                <a:solidFill>
                  <a:schemeClr val="accent1"/>
                </a:solidFill>
                <a:latin typeface="Dubai Medium" panose="020B0603030403030204" pitchFamily="34" charset="-78"/>
                <a:cs typeface="Dubai Medium" panose="020B0603030403030204" pitchFamily="34" charset="-78"/>
              </a:rPr>
              <a:t>DATA SUMMARY</a:t>
            </a:r>
            <a:endParaRPr lang="en-IN" sz="4000" b="1" dirty="0">
              <a:ln w="0"/>
              <a:solidFill>
                <a:schemeClr val="accent1"/>
              </a:solidFill>
              <a:latin typeface="Dubai Medium" panose="020B0603030403030204" pitchFamily="34" charset="-78"/>
              <a:cs typeface="Dubai Medium" panose="020B0603030403030204" pitchFamily="34" charset="-78"/>
            </a:endParaRPr>
          </a:p>
        </p:txBody>
      </p:sp>
      <p:pic>
        <p:nvPicPr>
          <p:cNvPr id="3" name="Picture 2"/>
          <p:cNvPicPr>
            <a:picLocks noChangeAspect="1"/>
          </p:cNvPicPr>
          <p:nvPr/>
        </p:nvPicPr>
        <p:blipFill rotWithShape="1">
          <a:blip r:embed="rId2"/>
          <a:srcRect l="4874" r="10717" b="51581"/>
          <a:stretch/>
        </p:blipFill>
        <p:spPr>
          <a:xfrm>
            <a:off x="2417272" y="1273040"/>
            <a:ext cx="7541537" cy="2702554"/>
          </a:xfrm>
          <a:prstGeom prst="rect">
            <a:avLst/>
          </a:prstGeom>
          <a:ln>
            <a:solidFill>
              <a:schemeClr val="tx1"/>
            </a:solidFill>
          </a:ln>
        </p:spPr>
      </p:pic>
      <p:sp>
        <p:nvSpPr>
          <p:cNvPr id="4" name="Google Shape;107;p5"/>
          <p:cNvSpPr txBox="1"/>
          <p:nvPr/>
        </p:nvSpPr>
        <p:spPr>
          <a:xfrm>
            <a:off x="3102547" y="4395557"/>
            <a:ext cx="6170985" cy="1338788"/>
          </a:xfrm>
          <a:prstGeom prst="rect">
            <a:avLst/>
          </a:prstGeom>
          <a:ln/>
        </p:spPr>
        <p:style>
          <a:lnRef idx="2">
            <a:schemeClr val="accent5"/>
          </a:lnRef>
          <a:fillRef idx="1">
            <a:schemeClr val="lt1"/>
          </a:fillRef>
          <a:effectRef idx="0">
            <a:schemeClr val="accent5"/>
          </a:effectRef>
          <a:fontRef idx="minor">
            <a:schemeClr val="dk1"/>
          </a:fontRef>
        </p:style>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1800" b="1" u="sng" dirty="0">
                <a:solidFill>
                  <a:schemeClr val="dk1"/>
                </a:solidFill>
                <a:latin typeface="Arial" panose="020B0604020202020204" pitchFamily="34" charset="0"/>
                <a:ea typeface="Consolas"/>
                <a:cs typeface="Arial" panose="020B0604020202020204" pitchFamily="34" charset="0"/>
                <a:sym typeface="Consolas"/>
              </a:rPr>
              <a:t>Dataset details</a:t>
            </a:r>
            <a:r>
              <a:rPr lang="en-IN" sz="1800" u="sng" dirty="0">
                <a:solidFill>
                  <a:schemeClr val="dk1"/>
                </a:solidFill>
                <a:latin typeface="+mj-lt"/>
                <a:ea typeface="Consolas"/>
                <a:cs typeface="Consolas"/>
                <a:sym typeface="Consolas"/>
              </a:rPr>
              <a:t>:</a:t>
            </a:r>
            <a:endParaRPr dirty="0">
              <a:latin typeface="+mj-lt"/>
            </a:endParaRPr>
          </a:p>
          <a:p>
            <a:pPr marL="342900" marR="0" lvl="0" indent="-342900" algn="l" rtl="0">
              <a:lnSpc>
                <a:spcPct val="150000"/>
              </a:lnSpc>
              <a:spcBef>
                <a:spcPts val="0"/>
              </a:spcBef>
              <a:spcAft>
                <a:spcPts val="0"/>
              </a:spcAft>
              <a:buClr>
                <a:schemeClr val="dk1"/>
              </a:buClr>
              <a:buSzPts val="1800"/>
              <a:buFont typeface="Geo"/>
              <a:buAutoNum type="arabicPeriod"/>
            </a:pPr>
            <a:r>
              <a:rPr lang="en-IN" sz="1800" dirty="0">
                <a:solidFill>
                  <a:schemeClr val="dk1"/>
                </a:solidFill>
                <a:latin typeface="Arial" panose="020B0604020202020204" pitchFamily="34" charset="0"/>
                <a:ea typeface="Consolas"/>
                <a:cs typeface="Arial" panose="020B0604020202020204" pitchFamily="34" charset="0"/>
                <a:sym typeface="Consolas"/>
              </a:rPr>
              <a:t>The Dataset contains 20,491 rows and 2 columns.</a:t>
            </a:r>
            <a:endParaRPr dirty="0">
              <a:latin typeface="Arial" panose="020B0604020202020204" pitchFamily="34" charset="0"/>
              <a:cs typeface="Arial" panose="020B0604020202020204" pitchFamily="34" charset="0"/>
            </a:endParaRPr>
          </a:p>
          <a:p>
            <a:pPr marL="342900" marR="0" lvl="0" indent="-342900" algn="l" rtl="0">
              <a:lnSpc>
                <a:spcPct val="150000"/>
              </a:lnSpc>
              <a:spcBef>
                <a:spcPts val="0"/>
              </a:spcBef>
              <a:spcAft>
                <a:spcPts val="0"/>
              </a:spcAft>
              <a:buClr>
                <a:schemeClr val="dk1"/>
              </a:buClr>
              <a:buSzPts val="1800"/>
              <a:buFont typeface="Geo"/>
              <a:buAutoNum type="arabicPeriod"/>
            </a:pPr>
            <a:r>
              <a:rPr lang="en-IN" sz="1800" dirty="0">
                <a:solidFill>
                  <a:schemeClr val="dk1"/>
                </a:solidFill>
                <a:latin typeface="Arial" panose="020B0604020202020204" pitchFamily="34" charset="0"/>
                <a:ea typeface="Consolas"/>
                <a:cs typeface="Arial" panose="020B0604020202020204" pitchFamily="34" charset="0"/>
                <a:sym typeface="Consolas"/>
              </a:rPr>
              <a:t>The Dataset does not have duplicate or null values.</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3082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0E4DDF-EE91-40D5-8616-7FCA09FC398B}"/>
              </a:ext>
            </a:extLst>
          </p:cNvPr>
          <p:cNvSpPr/>
          <p:nvPr/>
        </p:nvSpPr>
        <p:spPr>
          <a:xfrm>
            <a:off x="3527318" y="443210"/>
            <a:ext cx="5899372" cy="707886"/>
          </a:xfrm>
          <a:prstGeom prst="rect">
            <a:avLst/>
          </a:prstGeom>
          <a:noFill/>
        </p:spPr>
        <p:txBody>
          <a:bodyPr wrap="none" lIns="91440" tIns="45720" rIns="91440" bIns="45720">
            <a:spAutoFit/>
          </a:bodyPr>
          <a:lstStyle/>
          <a:p>
            <a:pPr algn="ctr"/>
            <a:r>
              <a:rPr lang="en-US" sz="4000" b="1" cap="none" spc="0" dirty="0">
                <a:ln w="0"/>
                <a:solidFill>
                  <a:schemeClr val="accent1"/>
                </a:solidFill>
                <a:effectLst>
                  <a:outerShdw blurRad="38100" dist="25400" dir="5400000" algn="ctr" rotWithShape="0">
                    <a:srgbClr val="6E747A">
                      <a:alpha val="43000"/>
                    </a:srgbClr>
                  </a:outerShdw>
                </a:effectLst>
              </a:rPr>
              <a:t>DATA PRE-PROCESSING</a:t>
            </a:r>
          </a:p>
        </p:txBody>
      </p:sp>
      <p:pic>
        <p:nvPicPr>
          <p:cNvPr id="4" name="Picture 3">
            <a:extLst>
              <a:ext uri="{FF2B5EF4-FFF2-40B4-BE49-F238E27FC236}">
                <a16:creationId xmlns:a16="http://schemas.microsoft.com/office/drawing/2014/main" id="{0EB50F0A-9BDA-4D52-BBBD-00E667874589}"/>
              </a:ext>
            </a:extLst>
          </p:cNvPr>
          <p:cNvPicPr>
            <a:picLocks noChangeAspect="1"/>
          </p:cNvPicPr>
          <p:nvPr/>
        </p:nvPicPr>
        <p:blipFill rotWithShape="1">
          <a:blip r:embed="rId2"/>
          <a:srcRect l="1880"/>
          <a:stretch/>
        </p:blipFill>
        <p:spPr>
          <a:xfrm>
            <a:off x="714375" y="1586665"/>
            <a:ext cx="6079123" cy="4618120"/>
          </a:xfrm>
          <a:prstGeom prst="rect">
            <a:avLst/>
          </a:prstGeom>
        </p:spPr>
      </p:pic>
      <p:pic>
        <p:nvPicPr>
          <p:cNvPr id="6" name="Picture 5">
            <a:extLst>
              <a:ext uri="{FF2B5EF4-FFF2-40B4-BE49-F238E27FC236}">
                <a16:creationId xmlns:a16="http://schemas.microsoft.com/office/drawing/2014/main" id="{D328AC31-26A8-4FBA-BF60-C6EFC8105570}"/>
              </a:ext>
            </a:extLst>
          </p:cNvPr>
          <p:cNvPicPr>
            <a:picLocks noChangeAspect="1"/>
          </p:cNvPicPr>
          <p:nvPr/>
        </p:nvPicPr>
        <p:blipFill rotWithShape="1">
          <a:blip r:embed="rId3"/>
          <a:srcRect r="6944"/>
          <a:stretch/>
        </p:blipFill>
        <p:spPr>
          <a:xfrm>
            <a:off x="5954472" y="1700975"/>
            <a:ext cx="5999404" cy="4503810"/>
          </a:xfrm>
          <a:prstGeom prst="rect">
            <a:avLst/>
          </a:prstGeom>
        </p:spPr>
      </p:pic>
    </p:spTree>
    <p:extLst>
      <p:ext uri="{BB962C8B-B14F-4D97-AF65-F5344CB8AC3E}">
        <p14:creationId xmlns:p14="http://schemas.microsoft.com/office/powerpoint/2010/main" val="2029903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76792" y="286855"/>
            <a:ext cx="7707139" cy="707886"/>
          </a:xfrm>
          <a:prstGeom prst="rect">
            <a:avLst/>
          </a:prstGeom>
          <a:noFill/>
        </p:spPr>
        <p:txBody>
          <a:bodyPr wrap="square" rtlCol="0">
            <a:spAutoFit/>
          </a:bodyPr>
          <a:lstStyle/>
          <a:p>
            <a:r>
              <a:rPr lang="en-IN" sz="4000" b="1" dirty="0">
                <a:ln w="0"/>
                <a:solidFill>
                  <a:schemeClr val="accent1"/>
                </a:solidFill>
                <a:latin typeface="Dubai Medium" panose="020B0603030403030204" pitchFamily="34" charset="-78"/>
                <a:cs typeface="Dubai Medium" panose="020B0603030403030204" pitchFamily="34" charset="-78"/>
              </a:rPr>
              <a:t>EXPLORATORY DATA  ANALYSIS</a:t>
            </a:r>
          </a:p>
        </p:txBody>
      </p:sp>
      <p:pic>
        <p:nvPicPr>
          <p:cNvPr id="7" name="Picture 6"/>
          <p:cNvPicPr>
            <a:picLocks noChangeAspect="1"/>
          </p:cNvPicPr>
          <p:nvPr/>
        </p:nvPicPr>
        <p:blipFill>
          <a:blip r:embed="rId2"/>
          <a:stretch>
            <a:fillRect/>
          </a:stretch>
        </p:blipFill>
        <p:spPr>
          <a:xfrm>
            <a:off x="1478827" y="2982817"/>
            <a:ext cx="3286408" cy="3324712"/>
          </a:xfrm>
          <a:prstGeom prst="rect">
            <a:avLst/>
          </a:prstGeom>
          <a:ln>
            <a:solidFill>
              <a:schemeClr val="tx1"/>
            </a:solidFill>
          </a:ln>
        </p:spPr>
      </p:pic>
      <p:sp>
        <p:nvSpPr>
          <p:cNvPr id="3" name="TextBox 2"/>
          <p:cNvSpPr txBox="1"/>
          <p:nvPr/>
        </p:nvSpPr>
        <p:spPr>
          <a:xfrm>
            <a:off x="886619" y="1250115"/>
            <a:ext cx="5243743" cy="1477328"/>
          </a:xfrm>
          <a:prstGeom prst="rect">
            <a:avLst/>
          </a:prstGeom>
          <a:noFill/>
        </p:spPr>
        <p:txBody>
          <a:bodyPr wrap="none" rtlCol="0">
            <a:spAutoFit/>
          </a:bodyPr>
          <a:lstStyle/>
          <a:p>
            <a:r>
              <a:rPr lang="en-US" b="1"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1. DISTRIBUTION OF RATINGS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Customers overall positive experience: 84.3%</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Customers overall negative experience: 15.7%</a:t>
            </a:r>
            <a:endParaRPr lang="en-IN" dirty="0"/>
          </a:p>
          <a:p>
            <a:endParaRPr lang="en-US" dirty="0">
              <a:latin typeface="Arial" panose="020B0604020202020204" pitchFamily="34" charset="0"/>
              <a:cs typeface="Arial" panose="020B0604020202020204" pitchFamily="34" charset="0"/>
            </a:endParaRPr>
          </a:p>
        </p:txBody>
      </p:sp>
      <p:pic>
        <p:nvPicPr>
          <p:cNvPr id="10" name="Picture 9"/>
          <p:cNvPicPr>
            <a:picLocks noChangeAspect="1"/>
          </p:cNvPicPr>
          <p:nvPr/>
        </p:nvPicPr>
        <p:blipFill rotWithShape="1">
          <a:blip r:embed="rId3"/>
          <a:srcRect t="1270"/>
          <a:stretch/>
        </p:blipFill>
        <p:spPr>
          <a:xfrm>
            <a:off x="5950175" y="2982817"/>
            <a:ext cx="5427982" cy="3324712"/>
          </a:xfrm>
          <a:prstGeom prst="rect">
            <a:avLst/>
          </a:prstGeom>
          <a:ln>
            <a:solidFill>
              <a:schemeClr val="tx1"/>
            </a:solidFill>
          </a:ln>
        </p:spPr>
      </p:pic>
      <p:sp>
        <p:nvSpPr>
          <p:cNvPr id="5" name="TextBox 4"/>
          <p:cNvSpPr txBox="1"/>
          <p:nvPr/>
        </p:nvSpPr>
        <p:spPr>
          <a:xfrm>
            <a:off x="6579820" y="1250115"/>
            <a:ext cx="4798337" cy="1149033"/>
          </a:xfrm>
          <a:prstGeom prst="rect">
            <a:avLst/>
          </a:prstGeom>
          <a:noFill/>
        </p:spPr>
        <p:txBody>
          <a:bodyPr wrap="square" rtlCol="0">
            <a:spAutoFit/>
          </a:bodyPr>
          <a:lstStyle/>
          <a:p>
            <a:r>
              <a:rPr lang="en-US" b="1"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2.PARKING FEEDBACK</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Positive feedback: 931 </a:t>
            </a:r>
            <a:endParaRPr lang="en-I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Negative feedback: 218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9152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3172"/>
          <a:stretch/>
        </p:blipFill>
        <p:spPr>
          <a:xfrm>
            <a:off x="426913" y="894631"/>
            <a:ext cx="5669087" cy="3619788"/>
          </a:xfrm>
          <a:prstGeom prst="rect">
            <a:avLst/>
          </a:prstGeom>
          <a:ln>
            <a:solidFill>
              <a:schemeClr val="tx1"/>
            </a:solidFill>
          </a:ln>
        </p:spPr>
      </p:pic>
      <p:pic>
        <p:nvPicPr>
          <p:cNvPr id="6" name="Picture 5"/>
          <p:cNvPicPr>
            <a:picLocks noChangeAspect="1"/>
          </p:cNvPicPr>
          <p:nvPr/>
        </p:nvPicPr>
        <p:blipFill>
          <a:blip r:embed="rId3"/>
          <a:stretch>
            <a:fillRect/>
          </a:stretch>
        </p:blipFill>
        <p:spPr>
          <a:xfrm>
            <a:off x="6693381" y="931252"/>
            <a:ext cx="4895158" cy="4293004"/>
          </a:xfrm>
          <a:prstGeom prst="rect">
            <a:avLst/>
          </a:prstGeom>
          <a:ln>
            <a:solidFill>
              <a:schemeClr val="tx1"/>
            </a:solidFill>
          </a:ln>
        </p:spPr>
      </p:pic>
      <p:sp>
        <p:nvSpPr>
          <p:cNvPr id="8" name="TextBox 7"/>
          <p:cNvSpPr txBox="1"/>
          <p:nvPr/>
        </p:nvSpPr>
        <p:spPr>
          <a:xfrm>
            <a:off x="1297663" y="4911410"/>
            <a:ext cx="4798337" cy="1149033"/>
          </a:xfrm>
          <a:prstGeom prst="rect">
            <a:avLst/>
          </a:prstGeom>
          <a:noFill/>
        </p:spPr>
        <p:txBody>
          <a:bodyPr wrap="square" rtlCol="0">
            <a:spAutoFit/>
          </a:bodyPr>
          <a:lstStyle/>
          <a:p>
            <a:r>
              <a:rPr lang="en-US" b="1"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3.</a:t>
            </a:r>
            <a:r>
              <a:rPr lang="en-IN" b="1" dirty="0">
                <a:ln w="0"/>
                <a:solidFill>
                  <a:schemeClr val="accent1"/>
                </a:solidFill>
                <a:effectLst>
                  <a:outerShdw blurRad="38100" dist="25400" dir="5400000" algn="ctr" rotWithShape="0">
                    <a:srgbClr val="6E747A">
                      <a:alpha val="43000"/>
                    </a:srgbClr>
                  </a:outerShdw>
                </a:effectLst>
              </a:rPr>
              <a:t> </a:t>
            </a:r>
            <a:r>
              <a:rPr lang="en-IN" b="1"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EXPENSIVE VS AFFORDABLE</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Experience feedback: 2302 </a:t>
            </a:r>
            <a:endParaRPr lang="en-I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Affordable feedback: 1686  </a:t>
            </a:r>
            <a:endParaRPr lang="en-IN" dirty="0">
              <a:latin typeface="Arial" panose="020B0604020202020204" pitchFamily="34" charset="0"/>
              <a:cs typeface="Arial" panose="020B0604020202020204" pitchFamily="34" charset="0"/>
            </a:endParaRPr>
          </a:p>
        </p:txBody>
      </p:sp>
      <p:sp>
        <p:nvSpPr>
          <p:cNvPr id="9" name="TextBox 8"/>
          <p:cNvSpPr txBox="1"/>
          <p:nvPr/>
        </p:nvSpPr>
        <p:spPr>
          <a:xfrm>
            <a:off x="6585523" y="5279896"/>
            <a:ext cx="4798337" cy="1149033"/>
          </a:xfrm>
          <a:prstGeom prst="rect">
            <a:avLst/>
          </a:prstGeom>
          <a:noFill/>
        </p:spPr>
        <p:txBody>
          <a:bodyPr wrap="square" rtlCol="0">
            <a:spAutoFit/>
          </a:bodyPr>
          <a:lstStyle/>
          <a:p>
            <a:r>
              <a:rPr lang="en-US" b="1"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4.</a:t>
            </a:r>
            <a:r>
              <a:rPr lang="en-US" b="1" dirty="0">
                <a:ln w="0"/>
                <a:solidFill>
                  <a:schemeClr val="accent1"/>
                </a:solidFill>
                <a:effectLst>
                  <a:outerShdw blurRad="38100" dist="25400" dir="5400000" algn="ctr" rotWithShape="0">
                    <a:srgbClr val="6E747A">
                      <a:alpha val="43000"/>
                    </a:srgbClr>
                  </a:outerShdw>
                </a:effectLst>
              </a:rPr>
              <a:t> </a:t>
            </a:r>
            <a:r>
              <a:rPr lang="en-US" b="1"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FAMILY TRIP VS BUSINESS TRIP</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Business Trip : 931 </a:t>
            </a:r>
            <a:endParaRPr lang="en-I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Family Trip : 218  </a:t>
            </a:r>
            <a:endParaRPr lang="en-IN" dirty="0">
              <a:latin typeface="Arial" panose="020B0604020202020204" pitchFamily="34" charset="0"/>
              <a:cs typeface="Arial" panose="020B0604020202020204" pitchFamily="34" charset="0"/>
            </a:endParaRPr>
          </a:p>
        </p:txBody>
      </p:sp>
      <p:sp>
        <p:nvSpPr>
          <p:cNvPr id="10" name="TextBox 9"/>
          <p:cNvSpPr txBox="1"/>
          <p:nvPr/>
        </p:nvSpPr>
        <p:spPr>
          <a:xfrm>
            <a:off x="2600375" y="158925"/>
            <a:ext cx="7461210" cy="707886"/>
          </a:xfrm>
          <a:prstGeom prst="rect">
            <a:avLst/>
          </a:prstGeom>
          <a:noFill/>
        </p:spPr>
        <p:txBody>
          <a:bodyPr wrap="none" rtlCol="0">
            <a:spAutoFit/>
          </a:bodyPr>
          <a:lstStyle/>
          <a:p>
            <a:r>
              <a:rPr lang="en-IN" sz="4000" b="1" u="sng" dirty="0">
                <a:ln w="0"/>
                <a:solidFill>
                  <a:schemeClr val="accent1"/>
                </a:solidFill>
                <a:latin typeface="Dubai Medium" panose="020B0603030403030204" pitchFamily="34" charset="-78"/>
                <a:cs typeface="Dubai Medium" panose="020B0603030403030204" pitchFamily="34" charset="-78"/>
              </a:rPr>
              <a:t>EXPLORATORY DATA  ANALYSIS</a:t>
            </a:r>
            <a:endParaRPr lang="en-IN" sz="4000" b="1" dirty="0">
              <a:ln w="0"/>
              <a:solidFill>
                <a:schemeClr val="accent1"/>
              </a:solidFill>
            </a:endParaRPr>
          </a:p>
        </p:txBody>
      </p:sp>
    </p:spTree>
    <p:extLst>
      <p:ext uri="{BB962C8B-B14F-4D97-AF65-F5344CB8AC3E}">
        <p14:creationId xmlns:p14="http://schemas.microsoft.com/office/powerpoint/2010/main" val="2804040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4173" r="5077"/>
          <a:stretch/>
        </p:blipFill>
        <p:spPr>
          <a:xfrm>
            <a:off x="4819868" y="1692997"/>
            <a:ext cx="6614659" cy="3355990"/>
          </a:xfrm>
          <a:prstGeom prst="rect">
            <a:avLst/>
          </a:prstGeom>
          <a:ln>
            <a:solidFill>
              <a:schemeClr val="tx1"/>
            </a:solidFill>
          </a:ln>
        </p:spPr>
      </p:pic>
      <p:sp>
        <p:nvSpPr>
          <p:cNvPr id="4" name="TextBox 3"/>
          <p:cNvSpPr txBox="1"/>
          <p:nvPr/>
        </p:nvSpPr>
        <p:spPr>
          <a:xfrm>
            <a:off x="642798" y="1756371"/>
            <a:ext cx="4019738" cy="2395528"/>
          </a:xfrm>
          <a:prstGeom prst="rect">
            <a:avLst/>
          </a:prstGeom>
          <a:noFill/>
        </p:spPr>
        <p:txBody>
          <a:bodyPr wrap="square" rtlCol="0">
            <a:spAutoFit/>
          </a:bodyPr>
          <a:lstStyle/>
          <a:p>
            <a:r>
              <a:rPr lang="en-US" b="1" dirty="0">
                <a:ln w="0"/>
                <a:solidFill>
                  <a:schemeClr val="accent1"/>
                </a:solidFill>
                <a:latin typeface="Arial" panose="020B0604020202020204" pitchFamily="34" charset="0"/>
                <a:cs typeface="Arial" panose="020B0604020202020204" pitchFamily="34" charset="0"/>
              </a:rPr>
              <a:t>5.</a:t>
            </a:r>
            <a:r>
              <a:rPr lang="en-IN" b="1" dirty="0">
                <a:ln w="0"/>
                <a:solidFill>
                  <a:schemeClr val="accent1"/>
                </a:solidFill>
              </a:rPr>
              <a:t> </a:t>
            </a:r>
            <a:r>
              <a:rPr lang="en-IN" b="1" dirty="0">
                <a:ln w="0"/>
                <a:solidFill>
                  <a:schemeClr val="accent1"/>
                </a:solidFill>
                <a:latin typeface="Arial" panose="020B0604020202020204" pitchFamily="34" charset="0"/>
                <a:cs typeface="Arial" panose="020B0604020202020204" pitchFamily="34" charset="0"/>
              </a:rPr>
              <a:t>TOP 5 BOOKING SITES</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Hotels.com and  TripAdvisor.com were the top choices for booking hotels</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Hotels.com : 41</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Tripadvisor.com : 33 </a:t>
            </a:r>
            <a:endParaRPr lang="en-IN" dirty="0">
              <a:latin typeface="Arial" panose="020B0604020202020204" pitchFamily="34" charset="0"/>
              <a:cs typeface="Arial" panose="020B0604020202020204" pitchFamily="34" charset="0"/>
            </a:endParaRPr>
          </a:p>
        </p:txBody>
      </p:sp>
      <p:sp>
        <p:nvSpPr>
          <p:cNvPr id="5" name="TextBox 4"/>
          <p:cNvSpPr txBox="1"/>
          <p:nvPr/>
        </p:nvSpPr>
        <p:spPr>
          <a:xfrm>
            <a:off x="2365395" y="319773"/>
            <a:ext cx="7461210" cy="707886"/>
          </a:xfrm>
          <a:prstGeom prst="rect">
            <a:avLst/>
          </a:prstGeom>
          <a:noFill/>
        </p:spPr>
        <p:txBody>
          <a:bodyPr wrap="none" rtlCol="0">
            <a:spAutoFit/>
          </a:bodyPr>
          <a:lstStyle/>
          <a:p>
            <a:r>
              <a:rPr lang="en-IN" sz="4000" b="1" u="sng"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cs typeface="Dubai Medium" panose="020B0603030403030204" pitchFamily="34" charset="-78"/>
              </a:rPr>
              <a:t>EXPLORATORY DATA  ANALYSIS</a:t>
            </a:r>
            <a:r>
              <a:rPr lang="en-US" sz="4000" b="1" dirty="0">
                <a:ln w="0"/>
                <a:solidFill>
                  <a:schemeClr val="accent1"/>
                </a:solidFill>
                <a:effectLst>
                  <a:outerShdw blurRad="38100" dist="25400" dir="5400000" algn="ctr" rotWithShape="0">
                    <a:srgbClr val="6E747A">
                      <a:alpha val="43000"/>
                    </a:srgbClr>
                  </a:outerShdw>
                </a:effectLst>
              </a:rPr>
              <a:t>.</a:t>
            </a:r>
            <a:endParaRPr lang="en-IN" sz="4000" b="1"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860201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94354" y="961845"/>
            <a:ext cx="9979014" cy="707886"/>
          </a:xfrm>
          <a:prstGeom prst="rect">
            <a:avLst/>
          </a:prstGeom>
        </p:spPr>
        <p:txBody>
          <a:bodyPr wrap="none">
            <a:spAutoFit/>
          </a:bodyPr>
          <a:lstStyle/>
          <a:p>
            <a:r>
              <a:rPr lang="en-IN" sz="2000" u="sng" dirty="0" err="1">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WordCloud</a:t>
            </a:r>
            <a:r>
              <a:rPr lang="en-IN" sz="2000" u="sng"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 Positive Reviews : </a:t>
            </a:r>
          </a:p>
          <a:p>
            <a:r>
              <a:rPr lang="en-IN" sz="2000" u="sng"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it shows hotel, night, room, good resort, place are more commonly used </a:t>
            </a:r>
            <a:r>
              <a:rPr lang="en-IN" sz="2000" u="sng" dirty="0" err="1">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Postive</a:t>
            </a:r>
            <a:r>
              <a:rPr lang="en-IN" sz="2000" u="sng"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words</a:t>
            </a:r>
          </a:p>
        </p:txBody>
      </p:sp>
      <p:sp>
        <p:nvSpPr>
          <p:cNvPr id="6" name="TextBox 5"/>
          <p:cNvSpPr txBox="1"/>
          <p:nvPr/>
        </p:nvSpPr>
        <p:spPr>
          <a:xfrm>
            <a:off x="3730028" y="263574"/>
            <a:ext cx="5292667" cy="707886"/>
          </a:xfrm>
          <a:prstGeom prst="rect">
            <a:avLst/>
          </a:prstGeom>
          <a:noFill/>
        </p:spPr>
        <p:txBody>
          <a:bodyPr wrap="none" rtlCol="0">
            <a:spAutoFit/>
          </a:bodyPr>
          <a:lstStyle/>
          <a:p>
            <a:r>
              <a:rPr lang="en-IN" sz="4000" b="1" u="sng"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cs typeface="Dubai Medium" panose="020B0603030403030204" pitchFamily="34" charset="-78"/>
              </a:rPr>
              <a:t>TEXT PREPROCESSING</a:t>
            </a:r>
          </a:p>
        </p:txBody>
      </p:sp>
      <p:pic>
        <p:nvPicPr>
          <p:cNvPr id="7" name="Picture 6">
            <a:extLst>
              <a:ext uri="{FF2B5EF4-FFF2-40B4-BE49-F238E27FC236}">
                <a16:creationId xmlns:a16="http://schemas.microsoft.com/office/drawing/2014/main" id="{BD40D47F-7A83-4EE7-896A-78EEE69B15BE}"/>
              </a:ext>
            </a:extLst>
          </p:cNvPr>
          <p:cNvPicPr>
            <a:picLocks noChangeAspect="1"/>
          </p:cNvPicPr>
          <p:nvPr/>
        </p:nvPicPr>
        <p:blipFill>
          <a:blip r:embed="rId2"/>
          <a:stretch>
            <a:fillRect/>
          </a:stretch>
        </p:blipFill>
        <p:spPr>
          <a:xfrm>
            <a:off x="2777159" y="2049599"/>
            <a:ext cx="7628281" cy="4168501"/>
          </a:xfrm>
          <a:prstGeom prst="rect">
            <a:avLst/>
          </a:prstGeom>
        </p:spPr>
      </p:pic>
    </p:spTree>
    <p:extLst>
      <p:ext uri="{BB962C8B-B14F-4D97-AF65-F5344CB8AC3E}">
        <p14:creationId xmlns:p14="http://schemas.microsoft.com/office/powerpoint/2010/main" val="3472718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36989" y="1099995"/>
            <a:ext cx="8772594" cy="923330"/>
          </a:xfrm>
          <a:prstGeom prst="rect">
            <a:avLst/>
          </a:prstGeom>
          <a:noFill/>
        </p:spPr>
        <p:txBody>
          <a:bodyPr wrap="none" rtlCol="0">
            <a:spAutoFit/>
          </a:bodyPr>
          <a:lstStyle/>
          <a:p>
            <a:r>
              <a:rPr lang="en-IN" u="sng" dirty="0" err="1">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WordCloud</a:t>
            </a:r>
            <a:r>
              <a:rPr lang="en-IN" u="sng"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 Negative Reviews:</a:t>
            </a:r>
          </a:p>
          <a:p>
            <a:r>
              <a:rPr lang="en-IN" u="sng"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It shows </a:t>
            </a:r>
            <a:r>
              <a:rPr lang="en-IN" u="sng" dirty="0" err="1">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Room,hotel</a:t>
            </a:r>
            <a:r>
              <a:rPr lang="en-IN" u="sng"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night, </a:t>
            </a:r>
            <a:r>
              <a:rPr lang="en-IN" u="sng" dirty="0" err="1">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food,service,staff</a:t>
            </a:r>
            <a:r>
              <a:rPr lang="en-IN" u="sng"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are most </a:t>
            </a:r>
            <a:r>
              <a:rPr lang="en-IN" u="sng" dirty="0" err="1">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commly</a:t>
            </a:r>
            <a:r>
              <a:rPr lang="en-IN" u="sng"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used negative words </a:t>
            </a:r>
          </a:p>
          <a:p>
            <a:endParaRPr lang="en-IN" dirty="0">
              <a:ln w="0"/>
              <a:effectLst>
                <a:outerShdw blurRad="38100" dist="19050" dir="2700000" algn="tl" rotWithShape="0">
                  <a:schemeClr val="dk1">
                    <a:alpha val="40000"/>
                  </a:schemeClr>
                </a:outerShdw>
              </a:effectLst>
            </a:endParaRPr>
          </a:p>
        </p:txBody>
      </p:sp>
      <p:sp>
        <p:nvSpPr>
          <p:cNvPr id="6" name="TextBox 5"/>
          <p:cNvSpPr txBox="1"/>
          <p:nvPr/>
        </p:nvSpPr>
        <p:spPr>
          <a:xfrm>
            <a:off x="3510396" y="266507"/>
            <a:ext cx="5358390" cy="707886"/>
          </a:xfrm>
          <a:prstGeom prst="rect">
            <a:avLst/>
          </a:prstGeom>
          <a:noFill/>
        </p:spPr>
        <p:txBody>
          <a:bodyPr wrap="none" rtlCol="0">
            <a:spAutoFit/>
          </a:bodyPr>
          <a:lstStyle/>
          <a:p>
            <a:r>
              <a:rPr lang="en-IN" sz="4000" b="1" u="sng"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cs typeface="Dubai Medium" panose="020B0603030403030204" pitchFamily="34" charset="-78"/>
              </a:rPr>
              <a:t>TEXT PREPROCESSING</a:t>
            </a:r>
            <a:r>
              <a:rPr lang="en-US" dirty="0"/>
              <a:t>.</a:t>
            </a:r>
            <a:endParaRPr lang="en-IN" dirty="0"/>
          </a:p>
        </p:txBody>
      </p:sp>
      <p:pic>
        <p:nvPicPr>
          <p:cNvPr id="7" name="Picture 6">
            <a:extLst>
              <a:ext uri="{FF2B5EF4-FFF2-40B4-BE49-F238E27FC236}">
                <a16:creationId xmlns:a16="http://schemas.microsoft.com/office/drawing/2014/main" id="{33534F3B-B9C7-4170-AE43-4045AB1FC412}"/>
              </a:ext>
            </a:extLst>
          </p:cNvPr>
          <p:cNvPicPr>
            <a:picLocks noChangeAspect="1"/>
          </p:cNvPicPr>
          <p:nvPr/>
        </p:nvPicPr>
        <p:blipFill>
          <a:blip r:embed="rId2"/>
          <a:stretch>
            <a:fillRect/>
          </a:stretch>
        </p:blipFill>
        <p:spPr>
          <a:xfrm>
            <a:off x="2847640" y="2023325"/>
            <a:ext cx="7734970" cy="4214225"/>
          </a:xfrm>
          <a:prstGeom prst="rect">
            <a:avLst/>
          </a:prstGeom>
        </p:spPr>
      </p:pic>
    </p:spTree>
    <p:extLst>
      <p:ext uri="{BB962C8B-B14F-4D97-AF65-F5344CB8AC3E}">
        <p14:creationId xmlns:p14="http://schemas.microsoft.com/office/powerpoint/2010/main" val="3785747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A6B169-5099-4B14-BED3-3D5535D04281}"/>
              </a:ext>
            </a:extLst>
          </p:cNvPr>
          <p:cNvPicPr>
            <a:picLocks noChangeAspect="1"/>
          </p:cNvPicPr>
          <p:nvPr/>
        </p:nvPicPr>
        <p:blipFill>
          <a:blip r:embed="rId2"/>
          <a:stretch>
            <a:fillRect/>
          </a:stretch>
        </p:blipFill>
        <p:spPr>
          <a:xfrm>
            <a:off x="312594" y="871532"/>
            <a:ext cx="5588802" cy="3128692"/>
          </a:xfrm>
          <a:prstGeom prst="rect">
            <a:avLst/>
          </a:prstGeom>
        </p:spPr>
      </p:pic>
      <p:pic>
        <p:nvPicPr>
          <p:cNvPr id="5" name="Picture 4">
            <a:extLst>
              <a:ext uri="{FF2B5EF4-FFF2-40B4-BE49-F238E27FC236}">
                <a16:creationId xmlns:a16="http://schemas.microsoft.com/office/drawing/2014/main" id="{BC63E874-950C-43D8-894A-FFACD78E6BEB}"/>
              </a:ext>
            </a:extLst>
          </p:cNvPr>
          <p:cNvPicPr>
            <a:picLocks noChangeAspect="1"/>
          </p:cNvPicPr>
          <p:nvPr/>
        </p:nvPicPr>
        <p:blipFill>
          <a:blip r:embed="rId3"/>
          <a:stretch>
            <a:fillRect/>
          </a:stretch>
        </p:blipFill>
        <p:spPr>
          <a:xfrm>
            <a:off x="6290605" y="937252"/>
            <a:ext cx="5761750" cy="3128692"/>
          </a:xfrm>
          <a:prstGeom prst="rect">
            <a:avLst/>
          </a:prstGeom>
        </p:spPr>
      </p:pic>
      <p:pic>
        <p:nvPicPr>
          <p:cNvPr id="7" name="Picture 6">
            <a:extLst>
              <a:ext uri="{FF2B5EF4-FFF2-40B4-BE49-F238E27FC236}">
                <a16:creationId xmlns:a16="http://schemas.microsoft.com/office/drawing/2014/main" id="{75B9BBD4-462C-4C56-B3E1-B2CCE0710B07}"/>
              </a:ext>
            </a:extLst>
          </p:cNvPr>
          <p:cNvPicPr>
            <a:picLocks noChangeAspect="1"/>
          </p:cNvPicPr>
          <p:nvPr/>
        </p:nvPicPr>
        <p:blipFill>
          <a:blip r:embed="rId4"/>
          <a:stretch>
            <a:fillRect/>
          </a:stretch>
        </p:blipFill>
        <p:spPr>
          <a:xfrm>
            <a:off x="3240533" y="4075745"/>
            <a:ext cx="5347657" cy="2782255"/>
          </a:xfrm>
          <a:prstGeom prst="rect">
            <a:avLst/>
          </a:prstGeom>
        </p:spPr>
      </p:pic>
      <p:sp>
        <p:nvSpPr>
          <p:cNvPr id="10" name="TextBox 9">
            <a:extLst>
              <a:ext uri="{FF2B5EF4-FFF2-40B4-BE49-F238E27FC236}">
                <a16:creationId xmlns:a16="http://schemas.microsoft.com/office/drawing/2014/main" id="{BF177522-4129-4E62-A2AA-F702743F301E}"/>
              </a:ext>
            </a:extLst>
          </p:cNvPr>
          <p:cNvSpPr txBox="1"/>
          <p:nvPr/>
        </p:nvSpPr>
        <p:spPr>
          <a:xfrm>
            <a:off x="3510396" y="266507"/>
            <a:ext cx="5358390" cy="707886"/>
          </a:xfrm>
          <a:prstGeom prst="rect">
            <a:avLst/>
          </a:prstGeom>
          <a:noFill/>
        </p:spPr>
        <p:txBody>
          <a:bodyPr wrap="none" rtlCol="0">
            <a:spAutoFit/>
          </a:bodyPr>
          <a:lstStyle/>
          <a:p>
            <a:r>
              <a:rPr lang="en-IN" sz="4000" b="1" u="sng"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cs typeface="Dubai Medium" panose="020B0603030403030204" pitchFamily="34" charset="-78"/>
              </a:rPr>
              <a:t>TEXT PREPROCESSING</a:t>
            </a:r>
            <a:r>
              <a:rPr lang="en-US" dirty="0"/>
              <a:t>.</a:t>
            </a:r>
            <a:endParaRPr lang="en-IN" dirty="0"/>
          </a:p>
        </p:txBody>
      </p:sp>
    </p:spTree>
    <p:extLst>
      <p:ext uri="{BB962C8B-B14F-4D97-AF65-F5344CB8AC3E}">
        <p14:creationId xmlns:p14="http://schemas.microsoft.com/office/powerpoint/2010/main" val="1222478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85230" y="122548"/>
            <a:ext cx="4221540" cy="707886"/>
          </a:xfrm>
          <a:prstGeom prst="rect">
            <a:avLst/>
          </a:prstGeom>
          <a:noFill/>
        </p:spPr>
        <p:txBody>
          <a:bodyPr wrap="none" rtlCol="0">
            <a:spAutoFit/>
          </a:bodyPr>
          <a:lstStyle/>
          <a:p>
            <a:pPr algn="ctr"/>
            <a:r>
              <a:rPr lang="en-IN" sz="4000" b="1" u="sng"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cs typeface="Dubai Medium" panose="020B0603030403030204" pitchFamily="34" charset="-78"/>
              </a:rPr>
              <a:t>MODEL BUILDING</a:t>
            </a:r>
          </a:p>
        </p:txBody>
      </p:sp>
      <p:sp>
        <p:nvSpPr>
          <p:cNvPr id="3" name="TextBox 2"/>
          <p:cNvSpPr txBox="1"/>
          <p:nvPr/>
        </p:nvSpPr>
        <p:spPr>
          <a:xfrm>
            <a:off x="1529057" y="797521"/>
            <a:ext cx="4012637" cy="461665"/>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US" sz="2400" b="1" dirty="0">
                <a:ln/>
                <a:solidFill>
                  <a:srgbClr val="FF0000"/>
                </a:solidFill>
                <a:latin typeface="Arial" panose="020B0604020202020204" pitchFamily="34" charset="0"/>
                <a:cs typeface="Arial" panose="020B0604020202020204" pitchFamily="34" charset="0"/>
              </a:rPr>
              <a:t>1.LOGISTIC REGRESSION</a:t>
            </a:r>
            <a:endParaRPr lang="en-IN" sz="2400" b="1" dirty="0">
              <a:ln/>
              <a:solidFill>
                <a:srgbClr val="FF0000"/>
              </a:solidFill>
              <a:latin typeface="Arial" panose="020B0604020202020204" pitchFamily="34" charset="0"/>
              <a:cs typeface="Arial" panose="020B0604020202020204" pitchFamily="34" charset="0"/>
            </a:endParaRPr>
          </a:p>
        </p:txBody>
      </p:sp>
      <p:sp>
        <p:nvSpPr>
          <p:cNvPr id="4" name="TextBox 3"/>
          <p:cNvSpPr txBox="1"/>
          <p:nvPr/>
        </p:nvSpPr>
        <p:spPr>
          <a:xfrm>
            <a:off x="5879197" y="830434"/>
            <a:ext cx="5556477" cy="1846659"/>
          </a:xfrm>
          <a:prstGeom prst="rect">
            <a:avLst/>
          </a:prstGeom>
          <a:noFill/>
        </p:spPr>
        <p:txBody>
          <a:bodyPr wrap="square" rtlCol="0">
            <a:spAutoFit/>
          </a:bodyPr>
          <a:lstStyle/>
          <a:p>
            <a:pPr marL="285750" indent="-285750" algn="just">
              <a:buFont typeface="Arial" panose="020B0604020202020204" pitchFamily="34" charset="0"/>
              <a:buChar char="•"/>
            </a:pPr>
            <a:r>
              <a:rPr lang="en-US" sz="1600" i="0" dirty="0">
                <a:solidFill>
                  <a:srgbClr val="202124"/>
                </a:solidFill>
                <a:effectLst/>
                <a:latin typeface="Dubai Medium" panose="020B0603030403030204" pitchFamily="34" charset="-78"/>
                <a:cs typeface="Dubai Medium" panose="020B0603030403030204" pitchFamily="34" charset="-78"/>
              </a:rPr>
              <a:t>A statistical method that is used for building machine learning models where the dependent variable is dichotomous: i.e. binary.</a:t>
            </a:r>
          </a:p>
          <a:p>
            <a:pPr marL="285750" indent="-285750" algn="just">
              <a:buFont typeface="Arial" panose="020B0604020202020204" pitchFamily="34" charset="0"/>
              <a:buChar char="•"/>
            </a:pPr>
            <a:r>
              <a:rPr lang="en-US" sz="1600" i="0" dirty="0">
                <a:solidFill>
                  <a:srgbClr val="202124"/>
                </a:solidFill>
                <a:effectLst/>
                <a:latin typeface="Dubai Medium" panose="020B0603030403030204" pitchFamily="34" charset="-78"/>
                <a:cs typeface="Dubai Medium" panose="020B0603030403030204" pitchFamily="34" charset="-78"/>
              </a:rPr>
              <a:t>Logistic regression is used to describe data and the relationship between one dependent variable and one or more independent variables</a:t>
            </a:r>
            <a:endParaRPr lang="en-IN" sz="1600" dirty="0">
              <a:latin typeface="Dubai Medium" panose="020B0603030403030204" pitchFamily="34" charset="-78"/>
              <a:cs typeface="Dubai Medium" panose="020B0603030403030204" pitchFamily="34" charset="-78"/>
            </a:endParaRPr>
          </a:p>
          <a:p>
            <a:endParaRPr lang="en-IN" sz="1600" dirty="0">
              <a:latin typeface="Dubai Medium" panose="020B0603030403030204" pitchFamily="34" charset="-78"/>
              <a:cs typeface="Dubai Medium" panose="020B0603030403030204" pitchFamily="34" charset="-78"/>
            </a:endParaRPr>
          </a:p>
        </p:txBody>
      </p:sp>
      <p:pic>
        <p:nvPicPr>
          <p:cNvPr id="5" name="Picture 4"/>
          <p:cNvPicPr>
            <a:picLocks noChangeAspect="1"/>
          </p:cNvPicPr>
          <p:nvPr/>
        </p:nvPicPr>
        <p:blipFill>
          <a:blip r:embed="rId2"/>
          <a:stretch>
            <a:fillRect/>
          </a:stretch>
        </p:blipFill>
        <p:spPr>
          <a:xfrm>
            <a:off x="5541694" y="2771503"/>
            <a:ext cx="6372225" cy="2781300"/>
          </a:xfrm>
          <a:prstGeom prst="rect">
            <a:avLst/>
          </a:prstGeom>
          <a:ln>
            <a:solidFill>
              <a:schemeClr val="tx1"/>
            </a:solidFill>
          </a:ln>
        </p:spPr>
      </p:pic>
      <p:pic>
        <p:nvPicPr>
          <p:cNvPr id="9" name="Picture 8"/>
          <p:cNvPicPr>
            <a:picLocks noChangeAspect="1"/>
          </p:cNvPicPr>
          <p:nvPr/>
        </p:nvPicPr>
        <p:blipFill>
          <a:blip r:embed="rId3"/>
          <a:stretch>
            <a:fillRect/>
          </a:stretch>
        </p:blipFill>
        <p:spPr>
          <a:xfrm>
            <a:off x="756326" y="1493822"/>
            <a:ext cx="4306526" cy="3428156"/>
          </a:xfrm>
          <a:prstGeom prst="rect">
            <a:avLst/>
          </a:prstGeom>
        </p:spPr>
      </p:pic>
      <p:pic>
        <p:nvPicPr>
          <p:cNvPr id="7" name="Picture 6">
            <a:extLst>
              <a:ext uri="{FF2B5EF4-FFF2-40B4-BE49-F238E27FC236}">
                <a16:creationId xmlns:a16="http://schemas.microsoft.com/office/drawing/2014/main" id="{2D4EB02E-6BA8-453E-A29E-BBF336D6BFAE}"/>
              </a:ext>
            </a:extLst>
          </p:cNvPr>
          <p:cNvPicPr>
            <a:picLocks noChangeAspect="1"/>
          </p:cNvPicPr>
          <p:nvPr/>
        </p:nvPicPr>
        <p:blipFill rotWithShape="1">
          <a:blip r:embed="rId4"/>
          <a:srcRect t="66471" b="-1"/>
          <a:stretch/>
        </p:blipFill>
        <p:spPr>
          <a:xfrm>
            <a:off x="568836" y="5638800"/>
            <a:ext cx="7902625" cy="656672"/>
          </a:xfrm>
          <a:prstGeom prst="rect">
            <a:avLst/>
          </a:prstGeom>
        </p:spPr>
      </p:pic>
    </p:spTree>
    <p:extLst>
      <p:ext uri="{BB962C8B-B14F-4D97-AF65-F5344CB8AC3E}">
        <p14:creationId xmlns:p14="http://schemas.microsoft.com/office/powerpoint/2010/main" val="2482802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06236" y="1140737"/>
            <a:ext cx="5370764" cy="461665"/>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2400" b="1" dirty="0">
                <a:ln/>
                <a:solidFill>
                  <a:srgbClr val="FF0000"/>
                </a:solidFill>
                <a:latin typeface="Arial" panose="020B0604020202020204" pitchFamily="34" charset="0"/>
                <a:cs typeface="Arial" panose="020B0604020202020204" pitchFamily="34" charset="0"/>
              </a:rPr>
              <a:t>2. SUPPORT VECTOR MACHINES</a:t>
            </a:r>
          </a:p>
        </p:txBody>
      </p:sp>
      <p:sp>
        <p:nvSpPr>
          <p:cNvPr id="4" name="TextBox 3"/>
          <p:cNvSpPr txBox="1"/>
          <p:nvPr/>
        </p:nvSpPr>
        <p:spPr>
          <a:xfrm>
            <a:off x="6096000" y="1140737"/>
            <a:ext cx="5556477" cy="1323439"/>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latin typeface="Dubai Medium" panose="020B0603030403030204" pitchFamily="34" charset="-78"/>
                <a:cs typeface="Dubai Medium" panose="020B0603030403030204" pitchFamily="34" charset="-78"/>
              </a:rPr>
              <a:t>A </a:t>
            </a:r>
            <a:r>
              <a:rPr lang="en-US" sz="1600" b="1" dirty="0">
                <a:latin typeface="Dubai Medium" panose="020B0603030403030204" pitchFamily="34" charset="-78"/>
                <a:cs typeface="Dubai Medium" panose="020B0603030403030204" pitchFamily="34" charset="-78"/>
              </a:rPr>
              <a:t>Support Vector Machine (SVM)</a:t>
            </a:r>
            <a:r>
              <a:rPr lang="en-US" sz="1600" dirty="0">
                <a:latin typeface="Dubai Medium" panose="020B0603030403030204" pitchFamily="34" charset="-78"/>
                <a:cs typeface="Dubai Medium" panose="020B0603030403030204" pitchFamily="34" charset="-78"/>
              </a:rPr>
              <a:t> is a supervised learning algorithm used for classification and regression tasks. </a:t>
            </a:r>
          </a:p>
          <a:p>
            <a:pPr marL="285750" indent="-285750" algn="just">
              <a:buFont typeface="Arial" panose="020B0604020202020204" pitchFamily="34" charset="0"/>
              <a:buChar char="•"/>
            </a:pPr>
            <a:r>
              <a:rPr lang="en-US" sz="1600" dirty="0">
                <a:latin typeface="Dubai Medium" panose="020B0603030403030204" pitchFamily="34" charset="-78"/>
                <a:cs typeface="Dubai Medium" panose="020B0603030403030204" pitchFamily="34" charset="-78"/>
              </a:rPr>
              <a:t>SVMs are effective in high-dimensional spaces and can handle both linear and non-linear data using the kernel trick, which maps the data into higher dimensions.</a:t>
            </a:r>
            <a:endParaRPr lang="en-IN" sz="1600" dirty="0">
              <a:latin typeface="Dubai Medium" panose="020B0603030403030204" pitchFamily="34" charset="-78"/>
              <a:cs typeface="Dubai Medium" panose="020B0603030403030204" pitchFamily="34" charset="-78"/>
            </a:endParaRPr>
          </a:p>
        </p:txBody>
      </p:sp>
      <p:pic>
        <p:nvPicPr>
          <p:cNvPr id="6" name="Picture 5"/>
          <p:cNvPicPr>
            <a:picLocks noChangeAspect="1"/>
          </p:cNvPicPr>
          <p:nvPr/>
        </p:nvPicPr>
        <p:blipFill>
          <a:blip r:embed="rId2"/>
          <a:stretch>
            <a:fillRect/>
          </a:stretch>
        </p:blipFill>
        <p:spPr>
          <a:xfrm>
            <a:off x="5452920" y="3193138"/>
            <a:ext cx="6229350" cy="2524125"/>
          </a:xfrm>
          <a:prstGeom prst="rect">
            <a:avLst/>
          </a:prstGeom>
          <a:ln>
            <a:solidFill>
              <a:schemeClr val="tx1"/>
            </a:solidFill>
          </a:ln>
        </p:spPr>
      </p:pic>
      <p:pic>
        <p:nvPicPr>
          <p:cNvPr id="7" name="Picture 6"/>
          <p:cNvPicPr>
            <a:picLocks noChangeAspect="1"/>
          </p:cNvPicPr>
          <p:nvPr/>
        </p:nvPicPr>
        <p:blipFill rotWithShape="1">
          <a:blip r:embed="rId3"/>
          <a:srcRect l="1174" t="471" b="1261"/>
          <a:stretch/>
        </p:blipFill>
        <p:spPr>
          <a:xfrm>
            <a:off x="645965" y="1784686"/>
            <a:ext cx="4624147" cy="3666653"/>
          </a:xfrm>
          <a:prstGeom prst="rect">
            <a:avLst/>
          </a:prstGeom>
        </p:spPr>
      </p:pic>
      <p:sp>
        <p:nvSpPr>
          <p:cNvPr id="8" name="TextBox 7">
            <a:extLst>
              <a:ext uri="{FF2B5EF4-FFF2-40B4-BE49-F238E27FC236}">
                <a16:creationId xmlns:a16="http://schemas.microsoft.com/office/drawing/2014/main" id="{26F842A9-FBE2-48AA-BE90-D0F82712655F}"/>
              </a:ext>
            </a:extLst>
          </p:cNvPr>
          <p:cNvSpPr txBox="1"/>
          <p:nvPr/>
        </p:nvSpPr>
        <p:spPr>
          <a:xfrm>
            <a:off x="4152340" y="209253"/>
            <a:ext cx="4277285" cy="707886"/>
          </a:xfrm>
          <a:prstGeom prst="rect">
            <a:avLst/>
          </a:prstGeom>
          <a:noFill/>
        </p:spPr>
        <p:txBody>
          <a:bodyPr wrap="square">
            <a:spAutoFit/>
          </a:bodyPr>
          <a:lstStyle/>
          <a:p>
            <a:pPr algn="ctr"/>
            <a:r>
              <a:rPr lang="en-IN" sz="4000" b="1" u="sng"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cs typeface="Dubai Medium" panose="020B0603030403030204" pitchFamily="34" charset="-78"/>
              </a:rPr>
              <a:t>MODEL BUILDING</a:t>
            </a:r>
          </a:p>
        </p:txBody>
      </p:sp>
      <p:pic>
        <p:nvPicPr>
          <p:cNvPr id="10" name="Picture 9">
            <a:extLst>
              <a:ext uri="{FF2B5EF4-FFF2-40B4-BE49-F238E27FC236}">
                <a16:creationId xmlns:a16="http://schemas.microsoft.com/office/drawing/2014/main" id="{8CDBE666-F020-45D9-8165-8B69FFBDC064}"/>
              </a:ext>
            </a:extLst>
          </p:cNvPr>
          <p:cNvPicPr>
            <a:picLocks noChangeAspect="1"/>
          </p:cNvPicPr>
          <p:nvPr/>
        </p:nvPicPr>
        <p:blipFill>
          <a:blip r:embed="rId4"/>
          <a:stretch>
            <a:fillRect/>
          </a:stretch>
        </p:blipFill>
        <p:spPr>
          <a:xfrm>
            <a:off x="991646" y="5898535"/>
            <a:ext cx="6873836" cy="403895"/>
          </a:xfrm>
          <a:prstGeom prst="rect">
            <a:avLst/>
          </a:prstGeom>
        </p:spPr>
      </p:pic>
    </p:spTree>
    <p:extLst>
      <p:ext uri="{BB962C8B-B14F-4D97-AF65-F5344CB8AC3E}">
        <p14:creationId xmlns:p14="http://schemas.microsoft.com/office/powerpoint/2010/main" val="4041313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02651" y="715122"/>
            <a:ext cx="3760933" cy="830997"/>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2400" b="1" dirty="0">
                <a:ln/>
                <a:solidFill>
                  <a:srgbClr val="FF0000"/>
                </a:solidFill>
                <a:latin typeface="Arial" panose="020B0604020202020204" pitchFamily="34" charset="0"/>
                <a:cs typeface="Arial" panose="020B0604020202020204" pitchFamily="34" charset="0"/>
              </a:rPr>
              <a:t>3. NEURAL NETWORKS </a:t>
            </a:r>
          </a:p>
          <a:p>
            <a:r>
              <a:rPr lang="en-IN" sz="2400" b="1" dirty="0">
                <a:ln/>
                <a:solidFill>
                  <a:srgbClr val="FF0000"/>
                </a:solidFill>
                <a:latin typeface="Arial" panose="020B0604020202020204" pitchFamily="34" charset="0"/>
                <a:cs typeface="Arial" panose="020B0604020202020204" pitchFamily="34" charset="0"/>
              </a:rPr>
              <a:t>     / DEEP LEARNING</a:t>
            </a:r>
          </a:p>
        </p:txBody>
      </p:sp>
      <p:pic>
        <p:nvPicPr>
          <p:cNvPr id="6" name="Picture 5"/>
          <p:cNvPicPr>
            <a:picLocks noChangeAspect="1"/>
          </p:cNvPicPr>
          <p:nvPr/>
        </p:nvPicPr>
        <p:blipFill>
          <a:blip r:embed="rId2"/>
          <a:stretch>
            <a:fillRect/>
          </a:stretch>
        </p:blipFill>
        <p:spPr>
          <a:xfrm>
            <a:off x="5712736" y="3556880"/>
            <a:ext cx="6184884" cy="2455352"/>
          </a:xfrm>
          <a:prstGeom prst="rect">
            <a:avLst/>
          </a:prstGeom>
          <a:ln>
            <a:solidFill>
              <a:schemeClr val="tx1"/>
            </a:solidFill>
          </a:ln>
        </p:spPr>
      </p:pic>
      <p:sp>
        <p:nvSpPr>
          <p:cNvPr id="2" name="TextBox 1"/>
          <p:cNvSpPr txBox="1"/>
          <p:nvPr/>
        </p:nvSpPr>
        <p:spPr>
          <a:xfrm>
            <a:off x="5810367" y="1007510"/>
            <a:ext cx="6087253" cy="1877437"/>
          </a:xfrm>
          <a:prstGeom prst="rect">
            <a:avLst/>
          </a:prstGeom>
          <a:noFill/>
        </p:spPr>
        <p:txBody>
          <a:bodyPr wrap="square" rtlCol="0">
            <a:spAutoFit/>
          </a:bodyPr>
          <a:lstStyle/>
          <a:p>
            <a:pPr marL="285750" indent="-285750" algn="just">
              <a:buFont typeface="Arial" panose="020B0604020202020204" pitchFamily="34" charset="0"/>
              <a:buChar char="•"/>
            </a:pPr>
            <a:r>
              <a:rPr lang="en-US" sz="1600" b="1" dirty="0">
                <a:latin typeface="Dubai Medium" panose="020B0603030403030204" pitchFamily="34" charset="-78"/>
                <a:cs typeface="Dubai Medium" panose="020B0603030403030204" pitchFamily="34" charset="-78"/>
              </a:rPr>
              <a:t>Deep Learning</a:t>
            </a:r>
            <a:r>
              <a:rPr lang="en-US" sz="1600" dirty="0">
                <a:latin typeface="Dubai Medium" panose="020B0603030403030204" pitchFamily="34" charset="-78"/>
                <a:cs typeface="Dubai Medium" panose="020B0603030403030204" pitchFamily="34" charset="-78"/>
              </a:rPr>
              <a:t> is a subset of machine learning that uses neural networks with many layers to model complex patterns in large datasets. </a:t>
            </a:r>
          </a:p>
          <a:p>
            <a:pPr marL="285750" indent="-285750" algn="just">
              <a:buFont typeface="Arial" panose="020B0604020202020204" pitchFamily="34" charset="0"/>
              <a:buChar char="•"/>
            </a:pPr>
            <a:r>
              <a:rPr lang="en-US" sz="1600" dirty="0">
                <a:latin typeface="Dubai Medium" panose="020B0603030403030204" pitchFamily="34" charset="-78"/>
                <a:cs typeface="Dubai Medium" panose="020B0603030403030204" pitchFamily="34" charset="-78"/>
              </a:rPr>
              <a:t>A </a:t>
            </a:r>
            <a:r>
              <a:rPr lang="en-US" sz="1600" b="1" dirty="0">
                <a:latin typeface="Dubai Medium" panose="020B0603030403030204" pitchFamily="34" charset="-78"/>
                <a:cs typeface="Dubai Medium" panose="020B0603030403030204" pitchFamily="34" charset="-78"/>
              </a:rPr>
              <a:t>Neural Network</a:t>
            </a:r>
            <a:r>
              <a:rPr lang="en-US" sz="1600" dirty="0">
                <a:latin typeface="Dubai Medium" panose="020B0603030403030204" pitchFamily="34" charset="-78"/>
                <a:cs typeface="Dubai Medium" panose="020B0603030403030204" pitchFamily="34" charset="-78"/>
              </a:rPr>
              <a:t> consists of interconnected layers of neurons that process input data through weighted connections. </a:t>
            </a:r>
          </a:p>
          <a:p>
            <a:pPr marL="285750" indent="-285750" algn="just">
              <a:buFont typeface="Arial" panose="020B0604020202020204" pitchFamily="34" charset="0"/>
              <a:buChar char="•"/>
            </a:pPr>
            <a:r>
              <a:rPr lang="en-US" sz="1600" dirty="0">
                <a:latin typeface="Dubai Medium" panose="020B0603030403030204" pitchFamily="34" charset="-78"/>
                <a:cs typeface="Dubai Medium" panose="020B0603030403030204" pitchFamily="34" charset="-78"/>
              </a:rPr>
              <a:t>The network learns by adjusting these weights during training to minimize prediction errors.</a:t>
            </a:r>
            <a:endParaRPr lang="en-IN" sz="1600" dirty="0">
              <a:latin typeface="Dubai Medium" panose="020B0603030403030204" pitchFamily="34" charset="-78"/>
              <a:cs typeface="Dubai Medium" panose="020B0603030403030204" pitchFamily="34" charset="-78"/>
            </a:endParaRPr>
          </a:p>
        </p:txBody>
      </p:sp>
      <p:sp>
        <p:nvSpPr>
          <p:cNvPr id="8" name="TextBox 7">
            <a:extLst>
              <a:ext uri="{FF2B5EF4-FFF2-40B4-BE49-F238E27FC236}">
                <a16:creationId xmlns:a16="http://schemas.microsoft.com/office/drawing/2014/main" id="{7ACF8D53-91D4-48A0-868F-239CAB2369DE}"/>
              </a:ext>
            </a:extLst>
          </p:cNvPr>
          <p:cNvSpPr txBox="1"/>
          <p:nvPr/>
        </p:nvSpPr>
        <p:spPr>
          <a:xfrm>
            <a:off x="2762367" y="181689"/>
            <a:ext cx="6096000" cy="707886"/>
          </a:xfrm>
          <a:prstGeom prst="rect">
            <a:avLst/>
          </a:prstGeom>
          <a:noFill/>
        </p:spPr>
        <p:txBody>
          <a:bodyPr wrap="square">
            <a:spAutoFit/>
          </a:bodyPr>
          <a:lstStyle/>
          <a:p>
            <a:pPr algn="ctr"/>
            <a:r>
              <a:rPr lang="en-IN" sz="4000" b="1" u="sng"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cs typeface="Dubai Medium" panose="020B0603030403030204" pitchFamily="34" charset="-78"/>
              </a:rPr>
              <a:t>MODEL BUILDING</a:t>
            </a:r>
          </a:p>
        </p:txBody>
      </p:sp>
      <p:pic>
        <p:nvPicPr>
          <p:cNvPr id="10" name="Picture 9">
            <a:extLst>
              <a:ext uri="{FF2B5EF4-FFF2-40B4-BE49-F238E27FC236}">
                <a16:creationId xmlns:a16="http://schemas.microsoft.com/office/drawing/2014/main" id="{3BAC68B9-7BE0-47BB-9C4B-CF26B7D59F07}"/>
              </a:ext>
            </a:extLst>
          </p:cNvPr>
          <p:cNvPicPr>
            <a:picLocks noChangeAspect="1"/>
          </p:cNvPicPr>
          <p:nvPr/>
        </p:nvPicPr>
        <p:blipFill>
          <a:blip r:embed="rId3"/>
          <a:stretch>
            <a:fillRect/>
          </a:stretch>
        </p:blipFill>
        <p:spPr>
          <a:xfrm>
            <a:off x="977871" y="6253278"/>
            <a:ext cx="9304826" cy="510584"/>
          </a:xfrm>
          <a:prstGeom prst="rect">
            <a:avLst/>
          </a:prstGeom>
        </p:spPr>
      </p:pic>
      <p:pic>
        <p:nvPicPr>
          <p:cNvPr id="11" name="Picture 10">
            <a:extLst>
              <a:ext uri="{FF2B5EF4-FFF2-40B4-BE49-F238E27FC236}">
                <a16:creationId xmlns:a16="http://schemas.microsoft.com/office/drawing/2014/main" id="{EFD360AB-05EA-47A1-B351-6DF5BBA6A61A}"/>
              </a:ext>
            </a:extLst>
          </p:cNvPr>
          <p:cNvPicPr>
            <a:picLocks noChangeAspect="1"/>
          </p:cNvPicPr>
          <p:nvPr/>
        </p:nvPicPr>
        <p:blipFill>
          <a:blip r:embed="rId4"/>
          <a:stretch>
            <a:fillRect/>
          </a:stretch>
        </p:blipFill>
        <p:spPr>
          <a:xfrm>
            <a:off x="176797" y="1634288"/>
            <a:ext cx="5453487" cy="4174841"/>
          </a:xfrm>
          <a:prstGeom prst="rect">
            <a:avLst/>
          </a:prstGeom>
          <a:ln>
            <a:solidFill>
              <a:schemeClr val="tx1"/>
            </a:solidFill>
          </a:ln>
        </p:spPr>
      </p:pic>
    </p:spTree>
    <p:extLst>
      <p:ext uri="{BB962C8B-B14F-4D97-AF65-F5344CB8AC3E}">
        <p14:creationId xmlns:p14="http://schemas.microsoft.com/office/powerpoint/2010/main" val="3961869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8196" y="1193356"/>
            <a:ext cx="3969933" cy="461665"/>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2400" b="1" dirty="0">
                <a:ln/>
                <a:solidFill>
                  <a:srgbClr val="FF0000"/>
                </a:solidFill>
                <a:latin typeface="Arial" panose="020B0604020202020204" pitchFamily="34" charset="0"/>
                <a:cs typeface="Arial" panose="020B0604020202020204" pitchFamily="34" charset="0"/>
              </a:rPr>
              <a:t>4. BAYESIAN NETWORKS</a:t>
            </a:r>
          </a:p>
        </p:txBody>
      </p:sp>
      <p:pic>
        <p:nvPicPr>
          <p:cNvPr id="5" name="Picture 4"/>
          <p:cNvPicPr>
            <a:picLocks noChangeAspect="1"/>
          </p:cNvPicPr>
          <p:nvPr/>
        </p:nvPicPr>
        <p:blipFill>
          <a:blip r:embed="rId2"/>
          <a:stretch>
            <a:fillRect/>
          </a:stretch>
        </p:blipFill>
        <p:spPr>
          <a:xfrm>
            <a:off x="5586839" y="3391318"/>
            <a:ext cx="6305550" cy="2533650"/>
          </a:xfrm>
          <a:prstGeom prst="rect">
            <a:avLst/>
          </a:prstGeom>
          <a:ln>
            <a:solidFill>
              <a:schemeClr val="bg2"/>
            </a:solidFill>
          </a:ln>
        </p:spPr>
      </p:pic>
      <p:pic>
        <p:nvPicPr>
          <p:cNvPr id="6" name="Picture 5"/>
          <p:cNvPicPr>
            <a:picLocks noChangeAspect="1"/>
          </p:cNvPicPr>
          <p:nvPr/>
        </p:nvPicPr>
        <p:blipFill>
          <a:blip r:embed="rId3"/>
          <a:stretch>
            <a:fillRect/>
          </a:stretch>
        </p:blipFill>
        <p:spPr>
          <a:xfrm>
            <a:off x="299612" y="1861543"/>
            <a:ext cx="5167578" cy="3766430"/>
          </a:xfrm>
          <a:prstGeom prst="rect">
            <a:avLst/>
          </a:prstGeom>
          <a:ln>
            <a:solidFill>
              <a:schemeClr val="tx1"/>
            </a:solidFill>
          </a:ln>
        </p:spPr>
      </p:pic>
      <p:sp>
        <p:nvSpPr>
          <p:cNvPr id="2" name="TextBox 1"/>
          <p:cNvSpPr txBox="1"/>
          <p:nvPr/>
        </p:nvSpPr>
        <p:spPr>
          <a:xfrm>
            <a:off x="5586839" y="924729"/>
            <a:ext cx="6305549" cy="2062103"/>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A </a:t>
            </a:r>
            <a:r>
              <a:rPr lang="en-US" sz="1600" b="1" dirty="0"/>
              <a:t>Bayesian Network</a:t>
            </a:r>
            <a:r>
              <a:rPr lang="en-US" sz="1600" dirty="0"/>
              <a:t> is a probabilistic graphical model that represents a set of variables and their conditional dependencies via a directed acyclic graph (DAG). </a:t>
            </a:r>
          </a:p>
          <a:p>
            <a:pPr marL="285750" indent="-285750" algn="just">
              <a:buFont typeface="Arial" panose="020B0604020202020204" pitchFamily="34" charset="0"/>
              <a:buChar char="•"/>
            </a:pPr>
            <a:r>
              <a:rPr lang="en-US" sz="1600" dirty="0"/>
              <a:t>Each node represents a variable, and the edges represent conditional dependencies between them. </a:t>
            </a:r>
          </a:p>
          <a:p>
            <a:pPr marL="285750" indent="-285750" algn="just">
              <a:buFont typeface="Arial" panose="020B0604020202020204" pitchFamily="34" charset="0"/>
              <a:buChar char="•"/>
            </a:pPr>
            <a:r>
              <a:rPr lang="en-US" sz="1600" dirty="0"/>
              <a:t>Bayesian Networks are used for reasoning under uncertainty, where they can compute the likelihood of various outcomes given certain evidence.</a:t>
            </a:r>
            <a:endParaRPr lang="en-IN" sz="1600" dirty="0"/>
          </a:p>
        </p:txBody>
      </p:sp>
      <p:sp>
        <p:nvSpPr>
          <p:cNvPr id="8" name="TextBox 7">
            <a:extLst>
              <a:ext uri="{FF2B5EF4-FFF2-40B4-BE49-F238E27FC236}">
                <a16:creationId xmlns:a16="http://schemas.microsoft.com/office/drawing/2014/main" id="{833FF787-3C49-48CD-95AC-E01E4FB769F8}"/>
              </a:ext>
            </a:extLst>
          </p:cNvPr>
          <p:cNvSpPr txBox="1"/>
          <p:nvPr/>
        </p:nvSpPr>
        <p:spPr>
          <a:xfrm>
            <a:off x="2952867" y="227855"/>
            <a:ext cx="6096000" cy="707886"/>
          </a:xfrm>
          <a:prstGeom prst="rect">
            <a:avLst/>
          </a:prstGeom>
          <a:noFill/>
        </p:spPr>
        <p:txBody>
          <a:bodyPr wrap="square">
            <a:spAutoFit/>
          </a:bodyPr>
          <a:lstStyle/>
          <a:p>
            <a:pPr algn="ctr"/>
            <a:r>
              <a:rPr lang="en-IN" sz="4000" b="1" u="sng" dirty="0">
                <a:ln w="0"/>
                <a:solidFill>
                  <a:schemeClr val="accent1"/>
                </a:solidFill>
                <a:effectLst>
                  <a:outerShdw blurRad="38100" dist="25400" dir="5400000" algn="ctr" rotWithShape="0">
                    <a:srgbClr val="6E747A">
                      <a:alpha val="43000"/>
                    </a:srgbClr>
                  </a:outerShdw>
                </a:effectLst>
                <a:latin typeface="Dubai Medium" panose="020B0603030403030204" pitchFamily="34" charset="-78"/>
                <a:cs typeface="Dubai Medium" panose="020B0603030403030204" pitchFamily="34" charset="-78"/>
              </a:rPr>
              <a:t>MODEL BUILDING</a:t>
            </a:r>
          </a:p>
        </p:txBody>
      </p:sp>
      <p:pic>
        <p:nvPicPr>
          <p:cNvPr id="9" name="Picture 8">
            <a:extLst>
              <a:ext uri="{FF2B5EF4-FFF2-40B4-BE49-F238E27FC236}">
                <a16:creationId xmlns:a16="http://schemas.microsoft.com/office/drawing/2014/main" id="{CF9A892F-A5E9-45D7-A078-65DEA772AE09}"/>
              </a:ext>
            </a:extLst>
          </p:cNvPr>
          <p:cNvPicPr>
            <a:picLocks noChangeAspect="1"/>
          </p:cNvPicPr>
          <p:nvPr/>
        </p:nvPicPr>
        <p:blipFill>
          <a:blip r:embed="rId4"/>
          <a:stretch>
            <a:fillRect/>
          </a:stretch>
        </p:blipFill>
        <p:spPr>
          <a:xfrm>
            <a:off x="273926" y="6116421"/>
            <a:ext cx="10487497" cy="559890"/>
          </a:xfrm>
          <a:prstGeom prst="rect">
            <a:avLst/>
          </a:prstGeom>
        </p:spPr>
      </p:pic>
    </p:spTree>
    <p:extLst>
      <p:ext uri="{BB962C8B-B14F-4D97-AF65-F5344CB8AC3E}">
        <p14:creationId xmlns:p14="http://schemas.microsoft.com/office/powerpoint/2010/main" val="1260013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94416" y="883285"/>
            <a:ext cx="3227165" cy="461665"/>
          </a:xfrm>
          <a:prstGeom prst="rect">
            <a:avLst/>
          </a:prstGeom>
        </p:spPr>
        <p:txBody>
          <a:bodyPr wrap="none">
            <a:spAutoFit/>
            <a:scene3d>
              <a:camera prst="orthographicFront"/>
              <a:lightRig rig="harsh" dir="t"/>
            </a:scene3d>
            <a:sp3d extrusionH="57150" prstMaterial="matte">
              <a:bevelT w="63500" h="12700" prst="angle"/>
              <a:contourClr>
                <a:schemeClr val="bg1">
                  <a:lumMod val="65000"/>
                </a:schemeClr>
              </a:contourClr>
            </a:sp3d>
          </a:bodyPr>
          <a:lstStyle/>
          <a:p>
            <a:r>
              <a:rPr lang="en-IN" sz="2400" b="1" dirty="0">
                <a:ln/>
                <a:solidFill>
                  <a:srgbClr val="FF0000"/>
                </a:solidFill>
                <a:latin typeface="Arial" panose="020B0604020202020204" pitchFamily="34" charset="0"/>
                <a:cs typeface="Arial" panose="020B0604020202020204" pitchFamily="34" charset="0"/>
              </a:rPr>
              <a:t>5. RANDOM FOREST</a:t>
            </a:r>
            <a:endParaRPr lang="en-IN" sz="2400" b="1" i="0" dirty="0">
              <a:ln/>
              <a:solidFill>
                <a:srgbClr val="FF0000"/>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5801149" y="2583350"/>
            <a:ext cx="6296025" cy="2419350"/>
          </a:xfrm>
          <a:prstGeom prst="rect">
            <a:avLst/>
          </a:prstGeom>
          <a:ln>
            <a:solidFill>
              <a:schemeClr val="tx1"/>
            </a:solidFill>
          </a:ln>
        </p:spPr>
      </p:pic>
      <p:pic>
        <p:nvPicPr>
          <p:cNvPr id="6" name="Picture 5"/>
          <p:cNvPicPr>
            <a:picLocks noChangeAspect="1"/>
          </p:cNvPicPr>
          <p:nvPr/>
        </p:nvPicPr>
        <p:blipFill>
          <a:blip r:embed="rId3"/>
          <a:stretch>
            <a:fillRect/>
          </a:stretch>
        </p:blipFill>
        <p:spPr>
          <a:xfrm>
            <a:off x="346342" y="1500779"/>
            <a:ext cx="5245257" cy="3856442"/>
          </a:xfrm>
          <a:prstGeom prst="rect">
            <a:avLst/>
          </a:prstGeom>
          <a:ln>
            <a:solidFill>
              <a:schemeClr val="tx1"/>
            </a:solidFill>
          </a:ln>
        </p:spPr>
      </p:pic>
      <p:pic>
        <p:nvPicPr>
          <p:cNvPr id="7" name="Picture 6"/>
          <p:cNvPicPr>
            <a:picLocks noChangeAspect="1"/>
          </p:cNvPicPr>
          <p:nvPr/>
        </p:nvPicPr>
        <p:blipFill>
          <a:blip r:embed="rId4"/>
          <a:stretch>
            <a:fillRect/>
          </a:stretch>
        </p:blipFill>
        <p:spPr>
          <a:xfrm>
            <a:off x="1747365" y="5685103"/>
            <a:ext cx="9334500" cy="695325"/>
          </a:xfrm>
          <a:prstGeom prst="rect">
            <a:avLst/>
          </a:prstGeom>
        </p:spPr>
      </p:pic>
      <p:sp>
        <p:nvSpPr>
          <p:cNvPr id="8" name="TextBox 7"/>
          <p:cNvSpPr txBox="1"/>
          <p:nvPr/>
        </p:nvSpPr>
        <p:spPr>
          <a:xfrm>
            <a:off x="4170506" y="176618"/>
            <a:ext cx="3410293" cy="584775"/>
          </a:xfrm>
          <a:prstGeom prst="rect">
            <a:avLst/>
          </a:prstGeom>
          <a:noFill/>
        </p:spPr>
        <p:txBody>
          <a:bodyPr wrap="none" rtlCol="0">
            <a:spAutoFit/>
          </a:bodyPr>
          <a:lstStyle/>
          <a:p>
            <a:pPr algn="ctr"/>
            <a:r>
              <a:rPr lang="en-IN" sz="3200" u="sng" dirty="0">
                <a:latin typeface="Dubai Medium" panose="020B0603030403030204" pitchFamily="34" charset="-78"/>
                <a:cs typeface="Dubai Medium" panose="020B0603030403030204" pitchFamily="34" charset="-78"/>
              </a:rPr>
              <a:t>MODEL BUILDING</a:t>
            </a:r>
          </a:p>
        </p:txBody>
      </p:sp>
      <p:sp>
        <p:nvSpPr>
          <p:cNvPr id="11" name="TextBox 10">
            <a:extLst>
              <a:ext uri="{FF2B5EF4-FFF2-40B4-BE49-F238E27FC236}">
                <a16:creationId xmlns:a16="http://schemas.microsoft.com/office/drawing/2014/main" id="{94C7005B-7655-489F-BCDA-0EE106EB0323}"/>
              </a:ext>
            </a:extLst>
          </p:cNvPr>
          <p:cNvSpPr txBox="1"/>
          <p:nvPr/>
        </p:nvSpPr>
        <p:spPr>
          <a:xfrm>
            <a:off x="5568384" y="836343"/>
            <a:ext cx="6096000"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Multiple Trees, One Prediction</a:t>
            </a:r>
            <a:r>
              <a:rPr kumimoji="0" lang="en-US" altLang="en-US" sz="1600" b="0" i="0" u="none" strike="noStrike" cap="none" normalizeH="0" baseline="0" dirty="0">
                <a:ln>
                  <a:noFill/>
                </a:ln>
                <a:solidFill>
                  <a:schemeClr val="tx1"/>
                </a:solidFill>
                <a:effectLst/>
                <a:latin typeface="Arial" panose="020B0604020202020204" pitchFamily="34" charset="0"/>
              </a:rPr>
              <a:t>: A Random Forest model creates many decision trees and combines their results to make a final prediction, making it more accurate and less likely to overfit.</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Random Choices</a:t>
            </a:r>
            <a:r>
              <a:rPr kumimoji="0" lang="en-US" altLang="en-US" sz="1600" b="0" i="0" u="none" strike="noStrike" cap="none" normalizeH="0" baseline="0" dirty="0">
                <a:ln>
                  <a:noFill/>
                </a:ln>
                <a:solidFill>
                  <a:schemeClr val="tx1"/>
                </a:solidFill>
                <a:effectLst/>
                <a:latin typeface="Arial" panose="020B0604020202020204" pitchFamily="34" charset="0"/>
              </a:rPr>
              <a:t>: It randomly selects different parts of the data and different features for each tree, which helps in making the model strong and reliable.</a:t>
            </a:r>
          </a:p>
        </p:txBody>
      </p:sp>
    </p:spTree>
    <p:extLst>
      <p:ext uri="{BB962C8B-B14F-4D97-AF65-F5344CB8AC3E}">
        <p14:creationId xmlns:p14="http://schemas.microsoft.com/office/powerpoint/2010/main" val="1850388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1F1EEE-DE5C-4333-9A5C-4C2F2BAB430D}"/>
              </a:ext>
            </a:extLst>
          </p:cNvPr>
          <p:cNvSpPr/>
          <p:nvPr/>
        </p:nvSpPr>
        <p:spPr>
          <a:xfrm>
            <a:off x="2661526" y="405110"/>
            <a:ext cx="7173760" cy="923330"/>
          </a:xfrm>
          <a:prstGeom prst="rect">
            <a:avLst/>
          </a:prstGeom>
          <a:noFill/>
        </p:spPr>
        <p:txBody>
          <a:bodyPr wrap="none" lIns="91440" tIns="45720" rIns="91440" bIns="45720">
            <a:spAutoFit/>
          </a:bodyPr>
          <a:lstStyle/>
          <a:p>
            <a:pPr algn="ctr"/>
            <a:r>
              <a:rPr lang="en-US" sz="5400" b="1" cap="none" spc="0" dirty="0">
                <a:ln w="0"/>
                <a:solidFill>
                  <a:schemeClr val="accent1"/>
                </a:solidFill>
                <a:effectLst>
                  <a:outerShdw blurRad="38100" dist="25400" dir="5400000" algn="ctr" rotWithShape="0">
                    <a:srgbClr val="6E747A">
                      <a:alpha val="43000"/>
                    </a:srgbClr>
                  </a:outerShdw>
                </a:effectLst>
              </a:rPr>
              <a:t>Selecting Best Model</a:t>
            </a:r>
          </a:p>
        </p:txBody>
      </p:sp>
      <p:graphicFrame>
        <p:nvGraphicFramePr>
          <p:cNvPr id="3" name="Table 3">
            <a:extLst>
              <a:ext uri="{FF2B5EF4-FFF2-40B4-BE49-F238E27FC236}">
                <a16:creationId xmlns:a16="http://schemas.microsoft.com/office/drawing/2014/main" id="{EC36F9A4-F10E-461D-AF7A-1C5D7C40349A}"/>
              </a:ext>
            </a:extLst>
          </p:cNvPr>
          <p:cNvGraphicFramePr>
            <a:graphicFrameLocks noGrp="1"/>
          </p:cNvGraphicFramePr>
          <p:nvPr>
            <p:extLst>
              <p:ext uri="{D42A27DB-BD31-4B8C-83A1-F6EECF244321}">
                <p14:modId xmlns:p14="http://schemas.microsoft.com/office/powerpoint/2010/main" val="1200358993"/>
              </p:ext>
            </p:extLst>
          </p:nvPr>
        </p:nvGraphicFramePr>
        <p:xfrm>
          <a:off x="942975" y="1996016"/>
          <a:ext cx="10791824" cy="3048000"/>
        </p:xfrm>
        <a:graphic>
          <a:graphicData uri="http://schemas.openxmlformats.org/drawingml/2006/table">
            <a:tbl>
              <a:tblPr firstRow="1" bandRow="1">
                <a:tableStyleId>{5C22544A-7EE6-4342-B048-85BDC9FD1C3A}</a:tableStyleId>
              </a:tblPr>
              <a:tblGrid>
                <a:gridCol w="2697956">
                  <a:extLst>
                    <a:ext uri="{9D8B030D-6E8A-4147-A177-3AD203B41FA5}">
                      <a16:colId xmlns:a16="http://schemas.microsoft.com/office/drawing/2014/main" val="1275838263"/>
                    </a:ext>
                  </a:extLst>
                </a:gridCol>
                <a:gridCol w="2697956">
                  <a:extLst>
                    <a:ext uri="{9D8B030D-6E8A-4147-A177-3AD203B41FA5}">
                      <a16:colId xmlns:a16="http://schemas.microsoft.com/office/drawing/2014/main" val="1624735629"/>
                    </a:ext>
                  </a:extLst>
                </a:gridCol>
                <a:gridCol w="2697956">
                  <a:extLst>
                    <a:ext uri="{9D8B030D-6E8A-4147-A177-3AD203B41FA5}">
                      <a16:colId xmlns:a16="http://schemas.microsoft.com/office/drawing/2014/main" val="1156862658"/>
                    </a:ext>
                  </a:extLst>
                </a:gridCol>
                <a:gridCol w="2697956">
                  <a:extLst>
                    <a:ext uri="{9D8B030D-6E8A-4147-A177-3AD203B41FA5}">
                      <a16:colId xmlns:a16="http://schemas.microsoft.com/office/drawing/2014/main" val="585207624"/>
                    </a:ext>
                  </a:extLst>
                </a:gridCol>
              </a:tblGrid>
              <a:tr h="370840">
                <a:tc>
                  <a:txBody>
                    <a:bodyPr/>
                    <a:lstStyle/>
                    <a:p>
                      <a:pPr algn="ctr"/>
                      <a:r>
                        <a:rPr lang="en-US" sz="1600" b="1" dirty="0"/>
                        <a:t>Model Name</a:t>
                      </a:r>
                      <a:endParaRPr lang="en-AE" sz="1600" b="1" dirty="0"/>
                    </a:p>
                  </a:txBody>
                  <a:tcPr/>
                </a:tc>
                <a:tc>
                  <a:txBody>
                    <a:bodyPr/>
                    <a:lstStyle/>
                    <a:p>
                      <a:pPr algn="ctr"/>
                      <a:r>
                        <a:rPr lang="en-US" sz="1600" b="1" dirty="0"/>
                        <a:t>Training Accuracy</a:t>
                      </a:r>
                      <a:endParaRPr lang="en-AE" sz="1600" b="1" dirty="0"/>
                    </a:p>
                  </a:txBody>
                  <a:tcPr/>
                </a:tc>
                <a:tc>
                  <a:txBody>
                    <a:bodyPr/>
                    <a:lstStyle/>
                    <a:p>
                      <a:pPr algn="ctr"/>
                      <a:r>
                        <a:rPr lang="en-US" sz="1600" b="1" dirty="0"/>
                        <a:t>Test Accuracy</a:t>
                      </a:r>
                      <a:endParaRPr lang="en-AE" sz="1600" b="1" dirty="0"/>
                    </a:p>
                  </a:txBody>
                  <a:tcPr/>
                </a:tc>
                <a:tc>
                  <a:txBody>
                    <a:bodyPr/>
                    <a:lstStyle/>
                    <a:p>
                      <a:pPr algn="ctr"/>
                      <a:r>
                        <a:rPr lang="en-US" sz="1600" b="1" dirty="0"/>
                        <a:t>Cross Validation Score</a:t>
                      </a:r>
                      <a:endParaRPr lang="en-AE" sz="1600" b="1" dirty="0"/>
                    </a:p>
                  </a:txBody>
                  <a:tcPr/>
                </a:tc>
                <a:extLst>
                  <a:ext uri="{0D108BD9-81ED-4DB2-BD59-A6C34878D82A}">
                    <a16:rowId xmlns:a16="http://schemas.microsoft.com/office/drawing/2014/main" val="2918739872"/>
                  </a:ext>
                </a:extLst>
              </a:tr>
              <a:tr h="370840">
                <a:tc>
                  <a:txBody>
                    <a:bodyPr/>
                    <a:lstStyle/>
                    <a:p>
                      <a:pPr algn="ctr"/>
                      <a:r>
                        <a:rPr lang="en-US" sz="1600" b="1" dirty="0"/>
                        <a:t>Logistic Regression</a:t>
                      </a:r>
                      <a:endParaRPr lang="en-AE" sz="1600" b="1" dirty="0"/>
                    </a:p>
                  </a:txBody>
                  <a:tcPr/>
                </a:tc>
                <a:tc>
                  <a:txBody>
                    <a:bodyPr/>
                    <a:lstStyle/>
                    <a:p>
                      <a:pPr algn="ctr"/>
                      <a:r>
                        <a:rPr lang="en-AE" sz="1600" b="1" dirty="0"/>
                        <a:t>94.00%</a:t>
                      </a:r>
                    </a:p>
                  </a:txBody>
                  <a:tcPr/>
                </a:tc>
                <a:tc>
                  <a:txBody>
                    <a:bodyPr/>
                    <a:lstStyle/>
                    <a:p>
                      <a:pPr algn="ctr"/>
                      <a:r>
                        <a:rPr lang="en-AE" sz="1600" b="1" dirty="0"/>
                        <a:t>92.34%</a:t>
                      </a:r>
                    </a:p>
                  </a:txBody>
                  <a:tcPr/>
                </a:tc>
                <a:tc>
                  <a:txBody>
                    <a:bodyPr/>
                    <a:lstStyle/>
                    <a:p>
                      <a:pPr algn="ctr"/>
                      <a:r>
                        <a:rPr lang="en-AE" sz="1600" b="1" dirty="0"/>
                        <a:t>92.42%</a:t>
                      </a:r>
                    </a:p>
                  </a:txBody>
                  <a:tcPr/>
                </a:tc>
                <a:extLst>
                  <a:ext uri="{0D108BD9-81ED-4DB2-BD59-A6C34878D82A}">
                    <a16:rowId xmlns:a16="http://schemas.microsoft.com/office/drawing/2014/main" val="297086792"/>
                  </a:ext>
                </a:extLst>
              </a:tr>
              <a:tr h="370840">
                <a:tc>
                  <a:txBody>
                    <a:bodyPr/>
                    <a:lstStyle/>
                    <a:p>
                      <a:pPr algn="ctr"/>
                      <a:r>
                        <a:rPr lang="en-US" sz="1600" b="1" dirty="0"/>
                        <a:t>Support Vector Machines</a:t>
                      </a:r>
                      <a:endParaRPr lang="en-AE" sz="1600" b="1" dirty="0"/>
                    </a:p>
                  </a:txBody>
                  <a:tcPr/>
                </a:tc>
                <a:tc>
                  <a:txBody>
                    <a:bodyPr/>
                    <a:lstStyle/>
                    <a:p>
                      <a:pPr algn="ctr"/>
                      <a:r>
                        <a:rPr lang="en-AE" sz="1600" b="1" dirty="0"/>
                        <a:t>94.81%</a:t>
                      </a:r>
                    </a:p>
                  </a:txBody>
                  <a:tcPr/>
                </a:tc>
                <a:tc>
                  <a:txBody>
                    <a:bodyPr/>
                    <a:lstStyle/>
                    <a:p>
                      <a:pPr algn="ctr"/>
                      <a:r>
                        <a:rPr lang="en-AE" sz="1600" b="1" dirty="0"/>
                        <a:t>92.36%</a:t>
                      </a:r>
                    </a:p>
                  </a:txBody>
                  <a:tcPr/>
                </a:tc>
                <a:tc>
                  <a:txBody>
                    <a:bodyPr/>
                    <a:lstStyle/>
                    <a:p>
                      <a:pPr algn="ctr"/>
                      <a:r>
                        <a:rPr lang="en-US" sz="1600" b="1" dirty="0"/>
                        <a:t>92.00%</a:t>
                      </a:r>
                      <a:endParaRPr lang="en-AE" sz="1600" b="1" dirty="0"/>
                    </a:p>
                  </a:txBody>
                  <a:tcPr/>
                </a:tc>
                <a:extLst>
                  <a:ext uri="{0D108BD9-81ED-4DB2-BD59-A6C34878D82A}">
                    <a16:rowId xmlns:a16="http://schemas.microsoft.com/office/drawing/2014/main" val="2311501411"/>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dirty="0">
                          <a:solidFill>
                            <a:schemeClr val="dk1"/>
                          </a:solidFill>
                          <a:latin typeface="+mn-lt"/>
                          <a:ea typeface="+mn-ea"/>
                          <a:cs typeface="+mn-cs"/>
                        </a:rPr>
                        <a:t>Neural Networks / Deep Learning</a:t>
                      </a:r>
                    </a:p>
                    <a:p>
                      <a:pPr algn="ctr"/>
                      <a:endParaRPr lang="en-AE" sz="1600" b="1" dirty="0"/>
                    </a:p>
                  </a:txBody>
                  <a:tcPr/>
                </a:tc>
                <a:tc>
                  <a:txBody>
                    <a:bodyPr/>
                    <a:lstStyle/>
                    <a:p>
                      <a:pPr algn="ctr"/>
                      <a:r>
                        <a:rPr lang="en-AE" sz="1600" b="1" dirty="0"/>
                        <a:t>93.66%</a:t>
                      </a:r>
                    </a:p>
                  </a:txBody>
                  <a:tcPr/>
                </a:tc>
                <a:tc>
                  <a:txBody>
                    <a:bodyPr/>
                    <a:lstStyle/>
                    <a:p>
                      <a:pPr algn="ctr"/>
                      <a:r>
                        <a:rPr lang="en-AE" sz="1600" b="1" dirty="0"/>
                        <a:t>92.36%</a:t>
                      </a:r>
                    </a:p>
                  </a:txBody>
                  <a:tcPr/>
                </a:tc>
                <a:tc>
                  <a:txBody>
                    <a:bodyPr/>
                    <a:lstStyle/>
                    <a:p>
                      <a:pPr algn="ctr"/>
                      <a:r>
                        <a:rPr lang="en-US" sz="1600" b="1" dirty="0"/>
                        <a:t>93.00%</a:t>
                      </a:r>
                      <a:endParaRPr lang="en-AE" sz="1600" b="1" dirty="0"/>
                    </a:p>
                  </a:txBody>
                  <a:tcPr/>
                </a:tc>
                <a:extLst>
                  <a:ext uri="{0D108BD9-81ED-4DB2-BD59-A6C34878D82A}">
                    <a16:rowId xmlns:a16="http://schemas.microsoft.com/office/drawing/2014/main" val="2602125404"/>
                  </a:ext>
                </a:extLst>
              </a:tr>
              <a:tr h="370840">
                <a:tc>
                  <a:txBody>
                    <a:bodyPr/>
                    <a:lstStyle/>
                    <a:p>
                      <a:pPr algn="ctr"/>
                      <a:r>
                        <a:rPr lang="en-US" sz="1600" b="1" dirty="0"/>
                        <a:t>Bayesian Networks</a:t>
                      </a:r>
                      <a:endParaRPr lang="en-AE" sz="1600" b="1" dirty="0"/>
                    </a:p>
                  </a:txBody>
                  <a:tcPr/>
                </a:tc>
                <a:tc>
                  <a:txBody>
                    <a:bodyPr/>
                    <a:lstStyle/>
                    <a:p>
                      <a:pPr algn="ctr"/>
                      <a:r>
                        <a:rPr lang="en-US" sz="1600" b="1" dirty="0"/>
                        <a:t>83.00%</a:t>
                      </a:r>
                      <a:endParaRPr lang="en-AE" sz="1600" b="1" dirty="0"/>
                    </a:p>
                  </a:txBody>
                  <a:tcPr/>
                </a:tc>
                <a:tc>
                  <a:txBody>
                    <a:bodyPr/>
                    <a:lstStyle/>
                    <a:p>
                      <a:pPr algn="ctr"/>
                      <a:r>
                        <a:rPr lang="en-US" sz="1600" b="1" dirty="0"/>
                        <a:t>84.00%</a:t>
                      </a:r>
                      <a:endParaRPr lang="en-AE" sz="16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dirty="0"/>
                        <a:t>84.00%</a:t>
                      </a:r>
                      <a:endParaRPr lang="en-AE" sz="1600" b="1" dirty="0"/>
                    </a:p>
                  </a:txBody>
                  <a:tcPr/>
                </a:tc>
                <a:extLst>
                  <a:ext uri="{0D108BD9-81ED-4DB2-BD59-A6C34878D82A}">
                    <a16:rowId xmlns:a16="http://schemas.microsoft.com/office/drawing/2014/main" val="2701266424"/>
                  </a:ext>
                </a:extLst>
              </a:tr>
              <a:tr h="370840">
                <a:tc>
                  <a:txBody>
                    <a:bodyPr/>
                    <a:lstStyle/>
                    <a:p>
                      <a:pPr algn="ctr"/>
                      <a:r>
                        <a:rPr lang="en-US" sz="1600" b="1" dirty="0"/>
                        <a:t>Random Forest</a:t>
                      </a:r>
                      <a:endParaRPr lang="en-AE" sz="1600" b="1" dirty="0"/>
                    </a:p>
                  </a:txBody>
                  <a:tcPr/>
                </a:tc>
                <a:tc>
                  <a:txBody>
                    <a:bodyPr/>
                    <a:lstStyle/>
                    <a:p>
                      <a:pPr algn="ctr"/>
                      <a:r>
                        <a:rPr lang="en-AE" sz="1600" b="1" dirty="0"/>
                        <a:t>84.22%</a:t>
                      </a:r>
                    </a:p>
                  </a:txBody>
                  <a:tcPr/>
                </a:tc>
                <a:tc>
                  <a:txBody>
                    <a:bodyPr/>
                    <a:lstStyle/>
                    <a:p>
                      <a:pPr algn="ctr"/>
                      <a:r>
                        <a:rPr lang="en-AE" sz="1600" b="1" dirty="0"/>
                        <a:t>84.70%</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dirty="0"/>
                        <a:t>84.00%</a:t>
                      </a:r>
                      <a:endParaRPr lang="en-AE" sz="1600" b="1" dirty="0"/>
                    </a:p>
                  </a:txBody>
                  <a:tcPr/>
                </a:tc>
                <a:extLst>
                  <a:ext uri="{0D108BD9-81ED-4DB2-BD59-A6C34878D82A}">
                    <a16:rowId xmlns:a16="http://schemas.microsoft.com/office/drawing/2014/main" val="3111884531"/>
                  </a:ext>
                </a:extLst>
              </a:tr>
              <a:tr h="370840">
                <a:tc>
                  <a:txBody>
                    <a:bodyPr/>
                    <a:lstStyle/>
                    <a:p>
                      <a:pPr algn="ctr"/>
                      <a:r>
                        <a:rPr lang="en-US" sz="1600" b="1" dirty="0"/>
                        <a:t>Naïve Bayes Classifier</a:t>
                      </a:r>
                      <a:endParaRPr lang="en-AE" sz="1600" b="1" dirty="0"/>
                    </a:p>
                  </a:txBody>
                  <a:tcPr/>
                </a:tc>
                <a:tc>
                  <a:txBody>
                    <a:bodyPr/>
                    <a:lstStyle/>
                    <a:p>
                      <a:pPr algn="ctr"/>
                      <a:r>
                        <a:rPr lang="en-AE" sz="1600" b="1" dirty="0"/>
                        <a:t>84.22%</a:t>
                      </a:r>
                    </a:p>
                  </a:txBody>
                  <a:tcPr/>
                </a:tc>
                <a:tc>
                  <a:txBody>
                    <a:bodyPr/>
                    <a:lstStyle/>
                    <a:p>
                      <a:pPr algn="ctr"/>
                      <a:r>
                        <a:rPr lang="en-AE" sz="1600" b="1" dirty="0"/>
                        <a:t>84.70%</a:t>
                      </a:r>
                    </a:p>
                  </a:txBody>
                  <a:tcPr/>
                </a:tc>
                <a:tc>
                  <a:txBody>
                    <a:bodyPr/>
                    <a:lstStyle/>
                    <a:p>
                      <a:pPr algn="ctr"/>
                      <a:r>
                        <a:rPr lang="en-US" sz="1600" b="1" dirty="0"/>
                        <a:t>50.00%</a:t>
                      </a:r>
                      <a:endParaRPr lang="en-AE" sz="1600" b="1" dirty="0"/>
                    </a:p>
                  </a:txBody>
                  <a:tcPr/>
                </a:tc>
                <a:extLst>
                  <a:ext uri="{0D108BD9-81ED-4DB2-BD59-A6C34878D82A}">
                    <a16:rowId xmlns:a16="http://schemas.microsoft.com/office/drawing/2014/main" val="1272795536"/>
                  </a:ext>
                </a:extLst>
              </a:tr>
            </a:tbl>
          </a:graphicData>
        </a:graphic>
      </p:graphicFrame>
    </p:spTree>
    <p:extLst>
      <p:ext uri="{BB962C8B-B14F-4D97-AF65-F5344CB8AC3E}">
        <p14:creationId xmlns:p14="http://schemas.microsoft.com/office/powerpoint/2010/main" val="858259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59551" y="272100"/>
            <a:ext cx="5893536" cy="707886"/>
          </a:xfrm>
          <a:prstGeom prst="rect">
            <a:avLst/>
          </a:prstGeom>
          <a:noFill/>
        </p:spPr>
        <p:txBody>
          <a:bodyPr wrap="none" rtlCol="0">
            <a:spAutoFit/>
          </a:bodyPr>
          <a:lstStyle/>
          <a:p>
            <a:r>
              <a:rPr lang="en-US" sz="4000" b="1" dirty="0">
                <a:ln w="0"/>
                <a:solidFill>
                  <a:schemeClr val="accent1"/>
                </a:solidFill>
                <a:latin typeface="Times New Roman" panose="02020603050405020304" pitchFamily="18" charset="0"/>
                <a:cs typeface="Times New Roman" panose="02020603050405020304" pitchFamily="18" charset="0"/>
              </a:rPr>
              <a:t>MODEL DEPLOYMENT</a:t>
            </a:r>
            <a:endParaRPr lang="en-IN" sz="4000" b="1" dirty="0">
              <a:ln w="0"/>
              <a:solidFill>
                <a:schemeClr val="accent1"/>
              </a:solidFill>
            </a:endParaRPr>
          </a:p>
        </p:txBody>
      </p:sp>
      <p:sp>
        <p:nvSpPr>
          <p:cNvPr id="4" name="TextBox 3"/>
          <p:cNvSpPr txBox="1"/>
          <p:nvPr/>
        </p:nvSpPr>
        <p:spPr>
          <a:xfrm>
            <a:off x="1605089" y="5811536"/>
            <a:ext cx="8981821"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Model Deployment is performed using Logistic Regression by using </a:t>
            </a:r>
            <a:r>
              <a:rPr lang="en-US" dirty="0" err="1">
                <a:latin typeface="Arial" panose="020B0604020202020204" pitchFamily="34" charset="0"/>
                <a:cs typeface="Arial" panose="020B0604020202020204" pitchFamily="34" charset="0"/>
              </a:rPr>
              <a:t>Streamlit</a:t>
            </a: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26CE8BF-1AB8-47FB-96AC-BBBFD9D9243D}"/>
              </a:ext>
            </a:extLst>
          </p:cNvPr>
          <p:cNvPicPr>
            <a:picLocks noChangeAspect="1"/>
          </p:cNvPicPr>
          <p:nvPr/>
        </p:nvPicPr>
        <p:blipFill>
          <a:blip r:embed="rId2"/>
          <a:stretch>
            <a:fillRect/>
          </a:stretch>
        </p:blipFill>
        <p:spPr>
          <a:xfrm>
            <a:off x="662571" y="1123814"/>
            <a:ext cx="8504657" cy="3124471"/>
          </a:xfrm>
          <a:prstGeom prst="rect">
            <a:avLst/>
          </a:prstGeom>
        </p:spPr>
      </p:pic>
      <p:pic>
        <p:nvPicPr>
          <p:cNvPr id="8" name="Picture 7">
            <a:extLst>
              <a:ext uri="{FF2B5EF4-FFF2-40B4-BE49-F238E27FC236}">
                <a16:creationId xmlns:a16="http://schemas.microsoft.com/office/drawing/2014/main" id="{B53EEBAA-C91E-47D3-BC66-FEFE656EEFFE}"/>
              </a:ext>
            </a:extLst>
          </p:cNvPr>
          <p:cNvPicPr>
            <a:picLocks noChangeAspect="1"/>
          </p:cNvPicPr>
          <p:nvPr/>
        </p:nvPicPr>
        <p:blipFill>
          <a:blip r:embed="rId3"/>
          <a:stretch>
            <a:fillRect/>
          </a:stretch>
        </p:blipFill>
        <p:spPr>
          <a:xfrm>
            <a:off x="4274560" y="2773687"/>
            <a:ext cx="7254869" cy="2949196"/>
          </a:xfrm>
          <a:prstGeom prst="rect">
            <a:avLst/>
          </a:prstGeom>
        </p:spPr>
      </p:pic>
    </p:spTree>
    <p:extLst>
      <p:ext uri="{BB962C8B-B14F-4D97-AF65-F5344CB8AC3E}">
        <p14:creationId xmlns:p14="http://schemas.microsoft.com/office/powerpoint/2010/main" val="5999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6240D8-372C-4AC9-A398-1202CA464BC8}"/>
              </a:ext>
            </a:extLst>
          </p:cNvPr>
          <p:cNvSpPr txBox="1"/>
          <p:nvPr/>
        </p:nvSpPr>
        <p:spPr>
          <a:xfrm>
            <a:off x="1524000" y="275509"/>
            <a:ext cx="10668000" cy="1323439"/>
          </a:xfrm>
          <a:prstGeom prst="rect">
            <a:avLst/>
          </a:prstGeom>
          <a:noFill/>
        </p:spPr>
        <p:txBody>
          <a:bodyPr wrap="square" rtlCol="0">
            <a:spAutoFit/>
          </a:bodyPr>
          <a:lstStyle/>
          <a:p>
            <a:r>
              <a:rPr lang="en-US" sz="4000" b="1" dirty="0">
                <a:ln w="0"/>
                <a:solidFill>
                  <a:schemeClr val="accent1"/>
                </a:solidFill>
                <a:effectLst>
                  <a:outerShdw blurRad="38100" dist="25400" dir="5400000" algn="ctr" rotWithShape="0">
                    <a:srgbClr val="6E747A">
                      <a:alpha val="43000"/>
                    </a:srgbClr>
                  </a:outerShdw>
                </a:effectLst>
              </a:rPr>
              <a:t>Deploying a hotel sentiment analysis </a:t>
            </a:r>
          </a:p>
          <a:p>
            <a:r>
              <a:rPr lang="en-US" sz="4000" b="1" dirty="0">
                <a:ln w="0"/>
                <a:solidFill>
                  <a:schemeClr val="accent1"/>
                </a:solidFill>
                <a:effectLst>
                  <a:outerShdw blurRad="38100" dist="25400" dir="5400000" algn="ctr" rotWithShape="0">
                    <a:srgbClr val="6E747A">
                      <a:alpha val="43000"/>
                    </a:srgbClr>
                  </a:outerShdw>
                </a:effectLst>
              </a:rPr>
              <a:t>Model Challenges</a:t>
            </a:r>
            <a:endParaRPr lang="en-IN" sz="4000" b="1" dirty="0">
              <a:ln w="0"/>
              <a:solidFill>
                <a:schemeClr val="accent1"/>
              </a:solidFill>
              <a:effectLst>
                <a:outerShdw blurRad="38100" dist="25400" dir="5400000" algn="ctr" rotWithShape="0">
                  <a:srgbClr val="6E747A">
                    <a:alpha val="43000"/>
                  </a:srgbClr>
                </a:outerShdw>
              </a:effectLst>
            </a:endParaRPr>
          </a:p>
        </p:txBody>
      </p:sp>
      <p:sp>
        <p:nvSpPr>
          <p:cNvPr id="3" name="Rectangle 1">
            <a:extLst>
              <a:ext uri="{FF2B5EF4-FFF2-40B4-BE49-F238E27FC236}">
                <a16:creationId xmlns:a16="http://schemas.microsoft.com/office/drawing/2014/main" id="{E17C2B05-B69A-40D7-B748-096B5854C598}"/>
              </a:ext>
            </a:extLst>
          </p:cNvPr>
          <p:cNvSpPr>
            <a:spLocks noChangeArrowheads="1"/>
          </p:cNvSpPr>
          <p:nvPr/>
        </p:nvSpPr>
        <p:spPr bwMode="auto">
          <a:xfrm rot="10800000" flipV="1">
            <a:off x="1418050" y="1967775"/>
            <a:ext cx="1066917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Data Quality</a:t>
            </a:r>
            <a:r>
              <a:rPr kumimoji="0" lang="en-US" altLang="en-US" sz="2000" b="0"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 Handling noisy, unstructured reviews with varying languages can complicate preprocessing and analysis.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Model Generalization</a:t>
            </a:r>
            <a:r>
              <a:rPr kumimoji="0" lang="en-US" altLang="en-US" sz="2000" b="0"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 Ensuring the model accurately predicts sentiment across different customer opinions and hotel contexts without overfitting.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Real-Time Processing</a:t>
            </a:r>
            <a:r>
              <a:rPr kumimoji="0" lang="en-US" altLang="en-US" sz="2000" b="0"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 Balancing speed and accuracy in real-time sentiment analysis, while ensuring scalability during peak times.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Integration</a:t>
            </a:r>
            <a:r>
              <a:rPr kumimoji="0" lang="en-US" altLang="en-US" sz="2000" b="0"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 Seamlessly integrating the model into existing hotel systems while managing resource constraints.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Maintenance</a:t>
            </a:r>
            <a:r>
              <a:rPr kumimoji="0" lang="en-US" altLang="en-US" sz="2000" b="0"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 Regularly updating the model to prevent drift, managing costs, and ensuring compliance with data privacy regulations.</a:t>
            </a:r>
          </a:p>
        </p:txBody>
      </p:sp>
    </p:spTree>
    <p:extLst>
      <p:ext uri="{BB962C8B-B14F-4D97-AF65-F5344CB8AC3E}">
        <p14:creationId xmlns:p14="http://schemas.microsoft.com/office/powerpoint/2010/main" val="2587778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9DF94B-649E-4341-8F56-ABCE6C60BB2E}"/>
              </a:ext>
            </a:extLst>
          </p:cNvPr>
          <p:cNvSpPr txBox="1"/>
          <p:nvPr/>
        </p:nvSpPr>
        <p:spPr>
          <a:xfrm>
            <a:off x="3048000" y="567183"/>
            <a:ext cx="6096000" cy="707886"/>
          </a:xfrm>
          <a:prstGeom prst="rect">
            <a:avLst/>
          </a:prstGeom>
          <a:noFill/>
        </p:spPr>
        <p:txBody>
          <a:bodyPr wrap="square">
            <a:spAutoFit/>
          </a:bodyPr>
          <a:lstStyle/>
          <a:p>
            <a:pPr algn="ctr"/>
            <a:r>
              <a:rPr lang="en-US" sz="4000" b="1" dirty="0">
                <a:ln w="0"/>
                <a:solidFill>
                  <a:schemeClr val="accent1"/>
                </a:solidFill>
                <a:effectLst>
                  <a:outerShdw blurRad="38100" dist="25400" dir="5400000" algn="ctr" rotWithShape="0">
                    <a:srgbClr val="6E747A">
                      <a:alpha val="43000"/>
                    </a:srgbClr>
                  </a:outerShdw>
                </a:effectLst>
              </a:rPr>
              <a:t>Conclusion </a:t>
            </a:r>
            <a:endParaRPr lang="en-AE" sz="4000" b="1" dirty="0">
              <a:ln w="0"/>
              <a:solidFill>
                <a:schemeClr val="accent1"/>
              </a:solidFill>
              <a:effectLst>
                <a:outerShdw blurRad="38100" dist="25400" dir="5400000" algn="ctr" rotWithShape="0">
                  <a:srgbClr val="6E747A">
                    <a:alpha val="43000"/>
                  </a:srgbClr>
                </a:outerShdw>
              </a:effectLst>
            </a:endParaRPr>
          </a:p>
        </p:txBody>
      </p:sp>
      <p:sp>
        <p:nvSpPr>
          <p:cNvPr id="4" name="Rectangle 1">
            <a:extLst>
              <a:ext uri="{FF2B5EF4-FFF2-40B4-BE49-F238E27FC236}">
                <a16:creationId xmlns:a16="http://schemas.microsoft.com/office/drawing/2014/main" id="{BCD895F3-CC20-447F-B9E4-5F5E7B0CCC09}"/>
              </a:ext>
            </a:extLst>
          </p:cNvPr>
          <p:cNvSpPr>
            <a:spLocks noChangeArrowheads="1"/>
          </p:cNvSpPr>
          <p:nvPr/>
        </p:nvSpPr>
        <p:spPr bwMode="auto">
          <a:xfrm>
            <a:off x="1790700" y="1808498"/>
            <a:ext cx="940117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Overall Sentiment</a:t>
            </a:r>
            <a:r>
              <a:rPr kumimoji="0" lang="en-US" altLang="en-US" sz="1800" b="0"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 The overall sentiment toward the hotel appears to be positive, with a majority of reviews expressing satisfaction. However, areas like parking and perceived cost may need attention if negative sentiments are prevalent in these aspects.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Model Effectiveness</a:t>
            </a:r>
            <a:r>
              <a:rPr kumimoji="0" lang="en-US" altLang="en-US" sz="1800" b="0" i="0" u="none" strike="noStrike" cap="none" normalizeH="0" baseline="0" dirty="0">
                <a:ln>
                  <a:noFill/>
                </a:ln>
                <a:solidFill>
                  <a:srgbClr val="00B050"/>
                </a:solidFill>
                <a:effectLst/>
                <a:latin typeface="Dubai Medium" panose="020B0603030403030204" pitchFamily="34" charset="-78"/>
                <a:cs typeface="Dubai Medium" panose="020B0603030403030204" pitchFamily="34" charset="-78"/>
              </a:rPr>
              <a:t>: The logistic regression model provided a reasonable level of accuracy, demonstrating its ability to predict the sentiment of hotel reviews effectively. However, there might be room for improvement by exploring more complex models or further refining the preprocessing steps.</a:t>
            </a:r>
          </a:p>
        </p:txBody>
      </p:sp>
      <p:sp>
        <p:nvSpPr>
          <p:cNvPr id="6" name="TextBox 5">
            <a:extLst>
              <a:ext uri="{FF2B5EF4-FFF2-40B4-BE49-F238E27FC236}">
                <a16:creationId xmlns:a16="http://schemas.microsoft.com/office/drawing/2014/main" id="{332FF115-19D5-4E32-935E-D54DF2B33EB5}"/>
              </a:ext>
            </a:extLst>
          </p:cNvPr>
          <p:cNvSpPr txBox="1"/>
          <p:nvPr/>
        </p:nvSpPr>
        <p:spPr>
          <a:xfrm>
            <a:off x="1319212" y="4594444"/>
            <a:ext cx="10344150" cy="923330"/>
          </a:xfrm>
          <a:prstGeom prst="rect">
            <a:avLst/>
          </a:prstGeom>
          <a:noFill/>
        </p:spPr>
        <p:txBody>
          <a:bodyPr wrap="square">
            <a:spAutoFit/>
          </a:bodyPr>
          <a:lstStyle/>
          <a:p>
            <a:r>
              <a:rPr lang="en-US" dirty="0">
                <a:latin typeface="Dubai Medium" panose="020B0603030403030204" pitchFamily="34" charset="-78"/>
                <a:cs typeface="Dubai Medium" panose="020B0603030403030204" pitchFamily="34" charset="-78"/>
              </a:rPr>
              <a:t>The sentiment analysis of hotel reviews provides valuable insights into customer perceptions, highlights areas of strength, and identifies opportunities for improvement. With further refinement, these findings can guide both operational and strategic decisions for the hotel</a:t>
            </a:r>
            <a:endParaRPr lang="en-AE" dirty="0">
              <a:latin typeface="Dubai Medium" panose="020B0603030403030204" pitchFamily="34" charset="-78"/>
              <a:cs typeface="Dubai Medium" panose="020B0603030403030204" pitchFamily="34" charset="-78"/>
            </a:endParaRPr>
          </a:p>
        </p:txBody>
      </p:sp>
    </p:spTree>
    <p:extLst>
      <p:ext uri="{BB962C8B-B14F-4D97-AF65-F5344CB8AC3E}">
        <p14:creationId xmlns:p14="http://schemas.microsoft.com/office/powerpoint/2010/main" val="270924786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1564</TotalTime>
  <Words>1050</Words>
  <Application>Microsoft Office PowerPoint</Application>
  <PresentationFormat>Widescreen</PresentationFormat>
  <Paragraphs>127</Paragraphs>
  <Slides>22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Calibri</vt:lpstr>
      <vt:lpstr>Century Gothic</vt:lpstr>
      <vt:lpstr>Dubai Medium</vt:lpstr>
      <vt:lpstr>Geo</vt:lpstr>
      <vt:lpstr>Libre Franklin</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ACS</dc:creator>
  <cp:lastModifiedBy>Godfrey Sequeira</cp:lastModifiedBy>
  <cp:revision>26</cp:revision>
  <dcterms:created xsi:type="dcterms:W3CDTF">2024-08-15T22:45:26Z</dcterms:created>
  <dcterms:modified xsi:type="dcterms:W3CDTF">2024-08-20T03:53:34Z</dcterms:modified>
</cp:coreProperties>
</file>